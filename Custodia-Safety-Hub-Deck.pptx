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8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1270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1.pn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svg"/><Relationship Id="rId5" Type="http://schemas.openxmlformats.org/officeDocument/2006/relationships/image" Target="../media/image37.svg"/><Relationship Id="rId4" Type="http://schemas.openxmlformats.org/officeDocument/2006/relationships/image" Target="../media/image3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3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38150" y="195783"/>
            <a:ext cx="8267700" cy="271463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38224" y="194742"/>
            <a:ext cx="176212" cy="176212"/>
          </a:xfrm>
          <a:prstGeom prst="rect">
            <a:avLst/>
          </a:prstGeom>
          <a:solidFill>
            <a:srgbClr val="0D8E83"/>
          </a:solidFill>
          <a:ln w="4763">
            <a:solidFill>
              <a:srgbClr val="0D8E8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76" y="226293"/>
            <a:ext cx="113109" cy="1131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5148" y="215578"/>
            <a:ext cx="87584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166" dirty="0">
                <a:solidFill>
                  <a:srgbClr val="171B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CUSTODIA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1426294" y="222498"/>
            <a:ext cx="14459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kern="0" spc="150" dirty="0">
                <a:solidFill>
                  <a:srgbClr val="7781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SAFETY HUB |01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7417966" y="222498"/>
            <a:ext cx="173043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123" dirty="0">
                <a:solidFill>
                  <a:srgbClr val="6872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PROJECT CALL |2026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438894" y="930548"/>
            <a:ext cx="249698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189" dirty="0">
                <a:solidFill>
                  <a:srgbClr val="0D8E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PRESENTATION / OVERVIEW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438894" y="1054298"/>
            <a:ext cx="2380804" cy="790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91"/>
              </a:spcBef>
              <a:buNone/>
            </a:pPr>
            <a:r>
              <a:rPr lang="en-US" sz="5180" b="1" kern="0" spc="-337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Custodia</a:t>
            </a:r>
            <a:endParaRPr lang="en-US" sz="5180" dirty="0"/>
          </a:p>
        </p:txBody>
      </p:sp>
      <p:sp>
        <p:nvSpPr>
          <p:cNvPr id="11" name="Text 8"/>
          <p:cNvSpPr/>
          <p:nvPr/>
        </p:nvSpPr>
        <p:spPr>
          <a:xfrm>
            <a:off x="438894" y="1831777"/>
            <a:ext cx="3300301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972"/>
              </a:spcBef>
              <a:buNone/>
            </a:pPr>
            <a:r>
              <a:rPr lang="en-US" sz="1260" b="1" dirty="0">
                <a:solidFill>
                  <a:srgbClr val="3C4C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Real-time hazard detection</a:t>
            </a:r>
            <a:endParaRPr lang="en-US" sz="1260" dirty="0"/>
          </a:p>
        </p:txBody>
      </p:sp>
      <p:sp>
        <p:nvSpPr>
          <p:cNvPr id="12" name="Text 9"/>
          <p:cNvSpPr/>
          <p:nvPr/>
        </p:nvSpPr>
        <p:spPr>
          <a:xfrm>
            <a:off x="438894" y="2014165"/>
            <a:ext cx="3175605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972"/>
              </a:spcBef>
              <a:buNone/>
            </a:pPr>
            <a:r>
              <a:rPr lang="en-US" sz="1260" b="1" dirty="0">
                <a:solidFill>
                  <a:srgbClr val="3C4C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meets instant situational</a:t>
            </a:r>
            <a:endParaRPr lang="en-US" sz="1260" dirty="0"/>
          </a:p>
        </p:txBody>
      </p:sp>
      <p:sp>
        <p:nvSpPr>
          <p:cNvPr id="13" name="Text 10"/>
          <p:cNvSpPr/>
          <p:nvPr/>
        </p:nvSpPr>
        <p:spPr>
          <a:xfrm>
            <a:off x="438894" y="2196554"/>
            <a:ext cx="1179798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972"/>
              </a:spcBef>
              <a:buNone/>
            </a:pPr>
            <a:r>
              <a:rPr lang="en-US" sz="1260" b="1" dirty="0">
                <a:solidFill>
                  <a:srgbClr val="3C4C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awareness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439750" y="2598948"/>
            <a:ext cx="1138237" cy="928688"/>
          </a:xfrm>
          <a:prstGeom prst="rect">
            <a:avLst/>
          </a:prstGeom>
          <a:solidFill>
            <a:srgbClr val="F8F9F6"/>
          </a:solidFill>
          <a:ln w="4763">
            <a:solidFill>
              <a:srgbClr val="C7CE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26492" y="2791271"/>
            <a:ext cx="96039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137" dirty="0">
                <a:solidFill>
                  <a:srgbClr val="7781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MONITORING</a:t>
            </a:r>
            <a:endParaRPr lang="en-US" sz="680" dirty="0"/>
          </a:p>
        </p:txBody>
      </p:sp>
      <p:sp>
        <p:nvSpPr>
          <p:cNvPr id="16" name="Text 13"/>
          <p:cNvSpPr/>
          <p:nvPr/>
        </p:nvSpPr>
        <p:spPr>
          <a:xfrm>
            <a:off x="626492" y="2949848"/>
            <a:ext cx="623843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1550" b="1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multi-zone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1652848" y="2598948"/>
            <a:ext cx="1138237" cy="928688"/>
          </a:xfrm>
          <a:prstGeom prst="rect">
            <a:avLst/>
          </a:prstGeom>
          <a:solidFill>
            <a:srgbClr val="F8F9F6"/>
          </a:solidFill>
          <a:ln w="4763">
            <a:solidFill>
              <a:srgbClr val="C7CE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1839590" y="2791271"/>
            <a:ext cx="87013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137" dirty="0">
                <a:solidFill>
                  <a:srgbClr val="7781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TELEMETRY</a:t>
            </a:r>
            <a:endParaRPr lang="en-US" sz="680" dirty="0"/>
          </a:p>
        </p:txBody>
      </p:sp>
      <p:sp>
        <p:nvSpPr>
          <p:cNvPr id="19" name="Text 16"/>
          <p:cNvSpPr/>
          <p:nvPr/>
        </p:nvSpPr>
        <p:spPr>
          <a:xfrm>
            <a:off x="1839590" y="2949848"/>
            <a:ext cx="934276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1550" b="1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real-time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2865946" y="2598948"/>
            <a:ext cx="1138237" cy="928688"/>
          </a:xfrm>
          <a:prstGeom prst="rect">
            <a:avLst/>
          </a:prstGeom>
          <a:solidFill>
            <a:srgbClr val="F8F9F6"/>
          </a:solidFill>
          <a:ln w="4763">
            <a:solidFill>
              <a:srgbClr val="C7CE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3052688" y="2791271"/>
            <a:ext cx="77978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137" dirty="0">
                <a:solidFill>
                  <a:srgbClr val="7781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RESPONSE</a:t>
            </a:r>
            <a:endParaRPr lang="en-US" sz="680" dirty="0"/>
          </a:p>
        </p:txBody>
      </p:sp>
      <p:sp>
        <p:nvSpPr>
          <p:cNvPr id="22" name="Text 19"/>
          <p:cNvSpPr/>
          <p:nvPr/>
        </p:nvSpPr>
        <p:spPr>
          <a:xfrm>
            <a:off x="3052688" y="2949848"/>
            <a:ext cx="691076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1550" b="1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guided</a:t>
            </a:r>
            <a:endParaRPr lang="en-US" sz="1550" dirty="0"/>
          </a:p>
        </p:txBody>
      </p:sp>
      <p:sp>
        <p:nvSpPr>
          <p:cNvPr id="23" name="Shape 20"/>
          <p:cNvSpPr/>
          <p:nvPr/>
        </p:nvSpPr>
        <p:spPr>
          <a:xfrm>
            <a:off x="438224" y="4350767"/>
            <a:ext cx="176212" cy="176212"/>
          </a:xfrm>
          <a:prstGeom prst="rect">
            <a:avLst/>
          </a:prstGeom>
          <a:solidFill>
            <a:srgbClr val="0D8E83"/>
          </a:solidFill>
          <a:ln w="4763">
            <a:solidFill>
              <a:srgbClr val="0D8E8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76" y="4382319"/>
            <a:ext cx="113109" cy="113109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86916" y="4375026"/>
            <a:ext cx="153995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b="1" kern="0" spc="130" dirty="0">
                <a:solidFill>
                  <a:srgbClr val="6872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OPERATING THESIS</a:t>
            </a:r>
            <a:endParaRPr lang="en-US" sz="720" dirty="0"/>
          </a:p>
        </p:txBody>
      </p:sp>
      <p:sp>
        <p:nvSpPr>
          <p:cNvPr id="26" name="Shape 22"/>
          <p:cNvSpPr/>
          <p:nvPr/>
        </p:nvSpPr>
        <p:spPr>
          <a:xfrm>
            <a:off x="4590306" y="556357"/>
            <a:ext cx="4114800" cy="3752850"/>
          </a:xfrm>
          <a:prstGeom prst="rect">
            <a:avLst/>
          </a:prstGeom>
          <a:solidFill>
            <a:srgbClr val="182B3B"/>
          </a:solidFill>
          <a:ln w="4763">
            <a:solidFill>
              <a:srgbClr val="2949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4595068" y="561119"/>
            <a:ext cx="4105275" cy="3743325"/>
          </a:xfrm>
          <a:prstGeom prst="rect">
            <a:avLst/>
          </a:prstGeom>
        </p:spPr>
      </p:pic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5068" y="561119"/>
            <a:ext cx="4105275" cy="3743325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4868912" y="3224026"/>
            <a:ext cx="3557588" cy="876300"/>
          </a:xfrm>
          <a:prstGeom prst="rect">
            <a:avLst/>
          </a:prstGeom>
          <a:solidFill>
            <a:srgbClr val="183348">
              <a:alpha val="90196"/>
            </a:srgbClr>
          </a:solidFill>
          <a:ln w="4763">
            <a:solidFill>
              <a:srgbClr val="7DCDC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4"/>
          <p:cNvSpPr/>
          <p:nvPr/>
        </p:nvSpPr>
        <p:spPr>
          <a:xfrm>
            <a:off x="5029498" y="3389561"/>
            <a:ext cx="150232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137" dirty="0">
                <a:solidFill>
                  <a:srgbClr val="97A3A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OPERATING THESIS</a:t>
            </a:r>
            <a:endParaRPr lang="en-US" sz="680" dirty="0"/>
          </a:p>
        </p:txBody>
      </p:sp>
      <p:sp>
        <p:nvSpPr>
          <p:cNvPr id="31" name="Text 25"/>
          <p:cNvSpPr/>
          <p:nvPr/>
        </p:nvSpPr>
        <p:spPr>
          <a:xfrm>
            <a:off x="5029498" y="3547393"/>
            <a:ext cx="328878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Turn passive alarms into a live safety</a:t>
            </a:r>
            <a:endParaRPr lang="en-US" sz="1440" dirty="0"/>
          </a:p>
        </p:txBody>
      </p:sp>
      <p:sp>
        <p:nvSpPr>
          <p:cNvPr id="32" name="Text 26"/>
          <p:cNvSpPr/>
          <p:nvPr/>
        </p:nvSpPr>
        <p:spPr>
          <a:xfrm>
            <a:off x="5029498" y="3733949"/>
            <a:ext cx="232711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picture that guides action.</a:t>
            </a:r>
            <a:endParaRPr lang="en-US" sz="1440" dirty="0"/>
          </a:p>
        </p:txBody>
      </p:sp>
      <p:sp>
        <p:nvSpPr>
          <p:cNvPr id="33" name="Text 27"/>
          <p:cNvSpPr/>
          <p:nvPr/>
        </p:nvSpPr>
        <p:spPr>
          <a:xfrm>
            <a:off x="438894" y="4829398"/>
            <a:ext cx="1975277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kern="0" spc="117" dirty="0">
                <a:solidFill>
                  <a:srgbClr val="6872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CUSTODIA | PROJECT CALL</a:t>
            </a:r>
            <a:endParaRPr lang="en-US" sz="650" dirty="0"/>
          </a:p>
        </p:txBody>
      </p:sp>
      <p:sp>
        <p:nvSpPr>
          <p:cNvPr id="34" name="Text 28"/>
          <p:cNvSpPr/>
          <p:nvPr/>
        </p:nvSpPr>
        <p:spPr>
          <a:xfrm>
            <a:off x="6716464" y="4829398"/>
            <a:ext cx="2642384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kern="0" spc="117" dirty="0">
                <a:solidFill>
                  <a:srgbClr val="6872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PRESENTATION | OPERATIONS BRIEF</a:t>
            </a:r>
            <a:endParaRPr lang="en-US" sz="65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8150" y="195783"/>
            <a:ext cx="8267700" cy="271463"/>
          </a:xfrm>
          <a:prstGeom prst="rect">
            <a:avLst/>
          </a:prstGeom>
        </p:spPr>
      </p:pic>
      <p:pic>
        <p:nvPicPr>
          <p:cNvPr id="3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8150" y="4728158"/>
            <a:ext cx="826770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3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38150" y="195783"/>
            <a:ext cx="8267700" cy="271463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38224" y="194742"/>
            <a:ext cx="176212" cy="176212"/>
          </a:xfrm>
          <a:prstGeom prst="rect">
            <a:avLst/>
          </a:prstGeom>
          <a:solidFill>
            <a:srgbClr val="0D8E83"/>
          </a:solidFill>
          <a:ln w="4763">
            <a:solidFill>
              <a:srgbClr val="0D8E8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76" y="226293"/>
            <a:ext cx="113109" cy="1131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5148" y="215578"/>
            <a:ext cx="87584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166" dirty="0">
                <a:solidFill>
                  <a:srgbClr val="171B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CUSTODIA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1426294" y="222498"/>
            <a:ext cx="14459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kern="0" spc="150" dirty="0">
                <a:solidFill>
                  <a:srgbClr val="7781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SAFETY HUB | 01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7824415" y="222498"/>
            <a:ext cx="120204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123" dirty="0">
                <a:solidFill>
                  <a:srgbClr val="6872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| OVERVIEW</a:t>
            </a:r>
            <a:endParaRPr lang="en-US" sz="680" dirty="0"/>
          </a:p>
        </p:txBody>
      </p:sp>
      <p:sp>
        <p:nvSpPr>
          <p:cNvPr id="9" name="Shape 6"/>
          <p:cNvSpPr/>
          <p:nvPr/>
        </p:nvSpPr>
        <p:spPr>
          <a:xfrm>
            <a:off x="439564" y="719547"/>
            <a:ext cx="4195762" cy="2624138"/>
          </a:xfrm>
          <a:prstGeom prst="rect">
            <a:avLst/>
          </a:prstGeom>
          <a:solidFill>
            <a:srgbClr val="24445D"/>
          </a:solidFill>
          <a:ln w="4763">
            <a:solidFill>
              <a:srgbClr val="2949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26492" y="912391"/>
            <a:ext cx="122410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189" dirty="0">
                <a:solidFill>
                  <a:srgbClr val="7CCD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PROBLEM</a:t>
            </a:r>
            <a:endParaRPr lang="en-US" sz="760" dirty="0"/>
          </a:p>
        </p:txBody>
      </p:sp>
      <p:sp>
        <p:nvSpPr>
          <p:cNvPr id="11" name="Text 8"/>
          <p:cNvSpPr/>
          <p:nvPr/>
        </p:nvSpPr>
        <p:spPr>
          <a:xfrm>
            <a:off x="626492" y="1075506"/>
            <a:ext cx="3360085" cy="461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20" b="1" kern="0" spc="-151" dirty="0">
                <a:solidFill>
                  <a:srgbClr val="F4F5F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Standard alarms are</a:t>
            </a:r>
            <a:endParaRPr lang="en-US" sz="3020" dirty="0"/>
          </a:p>
        </p:txBody>
      </p:sp>
      <p:sp>
        <p:nvSpPr>
          <p:cNvPr id="12" name="Text 9"/>
          <p:cNvSpPr/>
          <p:nvPr/>
        </p:nvSpPr>
        <p:spPr>
          <a:xfrm>
            <a:off x="626492" y="1428824"/>
            <a:ext cx="1404424" cy="461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20" b="1" kern="0" spc="-151" dirty="0">
                <a:solidFill>
                  <a:srgbClr val="F4F5F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passive.</a:t>
            </a:r>
            <a:endParaRPr lang="en-US" sz="3020" dirty="0"/>
          </a:p>
        </p:txBody>
      </p:sp>
      <p:sp>
        <p:nvSpPr>
          <p:cNvPr id="13" name="Text 10"/>
          <p:cNvSpPr/>
          <p:nvPr/>
        </p:nvSpPr>
        <p:spPr>
          <a:xfrm>
            <a:off x="626492" y="1915567"/>
            <a:ext cx="313826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8DDE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They alert but do not guide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26492" y="2094012"/>
            <a:ext cx="359467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8DDE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occupants to safe exits or give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26492" y="2272457"/>
            <a:ext cx="382288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8DDE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responders live data: gas levels,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26492" y="2450902"/>
            <a:ext cx="302411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8DDE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exact location, and visual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26492" y="2629346"/>
            <a:ext cx="154063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8DDE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confirmation.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26492" y="3000449"/>
            <a:ext cx="34793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F4D0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That increases evacuation time and risk.</a:t>
            </a:r>
            <a:endParaRPr lang="en-US" sz="860" dirty="0"/>
          </a:p>
        </p:txBody>
      </p:sp>
      <p:sp>
        <p:nvSpPr>
          <p:cNvPr id="19" name="Text 16"/>
          <p:cNvSpPr/>
          <p:nvPr/>
        </p:nvSpPr>
        <p:spPr>
          <a:xfrm>
            <a:off x="4818831" y="724793"/>
            <a:ext cx="111798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189" dirty="0">
                <a:solidFill>
                  <a:srgbClr val="0D8E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OBJECTIVES</a:t>
            </a:r>
            <a:endParaRPr lang="en-US" sz="760" dirty="0"/>
          </a:p>
        </p:txBody>
      </p:sp>
      <p:sp>
        <p:nvSpPr>
          <p:cNvPr id="20" name="Text 17"/>
          <p:cNvSpPr/>
          <p:nvPr/>
        </p:nvSpPr>
        <p:spPr>
          <a:xfrm>
            <a:off x="4818831" y="897880"/>
            <a:ext cx="3661812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2160" b="1" kern="0" spc="-108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Continuous awareness, not just</a:t>
            </a:r>
            <a:endParaRPr lang="en-US" sz="2160" dirty="0"/>
          </a:p>
        </p:txBody>
      </p:sp>
      <p:sp>
        <p:nvSpPr>
          <p:cNvPr id="21" name="Text 18"/>
          <p:cNvSpPr/>
          <p:nvPr/>
        </p:nvSpPr>
        <p:spPr>
          <a:xfrm>
            <a:off x="4818831" y="1158404"/>
            <a:ext cx="1144005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67"/>
              </a:spcBef>
              <a:buNone/>
            </a:pPr>
            <a:r>
              <a:rPr lang="en-US" sz="2160" b="1" kern="0" spc="-108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an alarm.</a:t>
            </a:r>
            <a:endParaRPr lang="en-US" sz="2160" dirty="0"/>
          </a:p>
        </p:txBody>
      </p:sp>
      <p:sp>
        <p:nvSpPr>
          <p:cNvPr id="22" name="Shape 19"/>
          <p:cNvSpPr/>
          <p:nvPr/>
        </p:nvSpPr>
        <p:spPr>
          <a:xfrm>
            <a:off x="4819799" y="1621073"/>
            <a:ext cx="1895475" cy="823913"/>
          </a:xfrm>
          <a:prstGeom prst="rect">
            <a:avLst/>
          </a:prstGeom>
          <a:solidFill>
            <a:srgbClr val="F8F9F6"/>
          </a:solidFill>
          <a:ln w="4763">
            <a:solidFill>
              <a:srgbClr val="C7CE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006429" y="1837730"/>
            <a:ext cx="24443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10" b="1" dirty="0">
                <a:solidFill>
                  <a:srgbClr val="0D8E8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01</a:t>
            </a:r>
            <a:endParaRPr lang="en-US" sz="1510" dirty="0"/>
          </a:p>
        </p:txBody>
      </p:sp>
      <p:sp>
        <p:nvSpPr>
          <p:cNvPr id="24" name="Text 21"/>
          <p:cNvSpPr/>
          <p:nvPr/>
        </p:nvSpPr>
        <p:spPr>
          <a:xfrm>
            <a:off x="5006429" y="2129507"/>
            <a:ext cx="200381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940" b="1" dirty="0">
                <a:solidFill>
                  <a:srgbClr val="171B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Continuous multi-zone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5006429" y="2254225"/>
            <a:ext cx="98419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940" b="1" dirty="0">
                <a:solidFill>
                  <a:srgbClr val="171B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monitoring</a:t>
            </a:r>
            <a:endParaRPr lang="en-US" sz="940" dirty="0"/>
          </a:p>
        </p:txBody>
      </p:sp>
      <p:sp>
        <p:nvSpPr>
          <p:cNvPr id="26" name="Shape 23"/>
          <p:cNvSpPr/>
          <p:nvPr/>
        </p:nvSpPr>
        <p:spPr>
          <a:xfrm>
            <a:off x="6808626" y="1621073"/>
            <a:ext cx="1895475" cy="823913"/>
          </a:xfrm>
          <a:prstGeom prst="rect">
            <a:avLst/>
          </a:prstGeom>
          <a:solidFill>
            <a:srgbClr val="F8F9F6"/>
          </a:solidFill>
          <a:ln w="4763">
            <a:solidFill>
              <a:srgbClr val="C7CE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6995220" y="1837730"/>
            <a:ext cx="28361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10" b="1" dirty="0">
                <a:solidFill>
                  <a:srgbClr val="0D8E8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02</a:t>
            </a:r>
            <a:endParaRPr lang="en-US" sz="1510" dirty="0"/>
          </a:p>
        </p:txBody>
      </p:sp>
      <p:sp>
        <p:nvSpPr>
          <p:cNvPr id="28" name="Text 25"/>
          <p:cNvSpPr/>
          <p:nvPr/>
        </p:nvSpPr>
        <p:spPr>
          <a:xfrm>
            <a:off x="6995220" y="2129507"/>
            <a:ext cx="181836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940" b="1" dirty="0">
                <a:solidFill>
                  <a:srgbClr val="171B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Real-time telemetry</a:t>
            </a:r>
            <a:endParaRPr lang="en-US" sz="940" dirty="0"/>
          </a:p>
        </p:txBody>
      </p:sp>
      <p:sp>
        <p:nvSpPr>
          <p:cNvPr id="29" name="Text 26"/>
          <p:cNvSpPr/>
          <p:nvPr/>
        </p:nvSpPr>
        <p:spPr>
          <a:xfrm>
            <a:off x="6995220" y="2254225"/>
            <a:ext cx="144766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940" b="1" dirty="0">
                <a:solidFill>
                  <a:srgbClr val="171B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via MQTT / HTTP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4819799" y="2535399"/>
            <a:ext cx="1895475" cy="823913"/>
          </a:xfrm>
          <a:prstGeom prst="rect">
            <a:avLst/>
          </a:prstGeom>
          <a:solidFill>
            <a:srgbClr val="F8F9F6"/>
          </a:solidFill>
          <a:ln w="4763">
            <a:solidFill>
              <a:srgbClr val="C7CE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5006429" y="2752055"/>
            <a:ext cx="28235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10" b="1" dirty="0">
                <a:solidFill>
                  <a:srgbClr val="0D8E8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03</a:t>
            </a:r>
            <a:endParaRPr lang="en-US" sz="1510" dirty="0"/>
          </a:p>
        </p:txBody>
      </p:sp>
      <p:sp>
        <p:nvSpPr>
          <p:cNvPr id="32" name="Text 29"/>
          <p:cNvSpPr/>
          <p:nvPr/>
        </p:nvSpPr>
        <p:spPr>
          <a:xfrm>
            <a:off x="5006429" y="3043833"/>
            <a:ext cx="191113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940" b="1" dirty="0">
                <a:solidFill>
                  <a:srgbClr val="171B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Smart dashboard with</a:t>
            </a:r>
            <a:endParaRPr lang="en-US" sz="940" dirty="0"/>
          </a:p>
        </p:txBody>
      </p:sp>
      <p:sp>
        <p:nvSpPr>
          <p:cNvPr id="33" name="Text 30"/>
          <p:cNvSpPr/>
          <p:nvPr/>
        </p:nvSpPr>
        <p:spPr>
          <a:xfrm>
            <a:off x="5006429" y="3168551"/>
            <a:ext cx="181836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940" b="1" dirty="0">
                <a:solidFill>
                  <a:srgbClr val="171B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live gauges / video</a:t>
            </a:r>
            <a:endParaRPr lang="en-US" sz="940" dirty="0"/>
          </a:p>
        </p:txBody>
      </p:sp>
      <p:sp>
        <p:nvSpPr>
          <p:cNvPr id="34" name="Shape 31"/>
          <p:cNvSpPr/>
          <p:nvPr/>
        </p:nvSpPr>
        <p:spPr>
          <a:xfrm>
            <a:off x="6808626" y="2535399"/>
            <a:ext cx="1895475" cy="823913"/>
          </a:xfrm>
          <a:prstGeom prst="rect">
            <a:avLst/>
          </a:prstGeom>
          <a:solidFill>
            <a:srgbClr val="F8F9F6"/>
          </a:solidFill>
          <a:ln w="4763">
            <a:solidFill>
              <a:srgbClr val="C7CE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6995220" y="2752055"/>
            <a:ext cx="29783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10" b="1" dirty="0">
                <a:solidFill>
                  <a:srgbClr val="0D8E8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04</a:t>
            </a:r>
            <a:endParaRPr lang="en-US" sz="1510" dirty="0"/>
          </a:p>
        </p:txBody>
      </p:sp>
      <p:sp>
        <p:nvSpPr>
          <p:cNvPr id="36" name="Text 33"/>
          <p:cNvSpPr/>
          <p:nvPr/>
        </p:nvSpPr>
        <p:spPr>
          <a:xfrm>
            <a:off x="6995220" y="3043833"/>
            <a:ext cx="191113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940" b="1" dirty="0">
                <a:solidFill>
                  <a:srgbClr val="171B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Automated threshold-based</a:t>
            </a:r>
            <a:endParaRPr lang="en-US" sz="940" dirty="0"/>
          </a:p>
        </p:txBody>
      </p:sp>
      <p:sp>
        <p:nvSpPr>
          <p:cNvPr id="37" name="Text 34"/>
          <p:cNvSpPr/>
          <p:nvPr/>
        </p:nvSpPr>
        <p:spPr>
          <a:xfrm>
            <a:off x="7423026" y="3168551"/>
            <a:ext cx="79874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940" b="1" dirty="0">
                <a:solidFill>
                  <a:srgbClr val="171B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alerting</a:t>
            </a:r>
            <a:endParaRPr lang="en-US" sz="940" dirty="0"/>
          </a:p>
        </p:txBody>
      </p:sp>
      <p:sp>
        <p:nvSpPr>
          <p:cNvPr id="38" name="Shape 35"/>
          <p:cNvSpPr/>
          <p:nvPr/>
        </p:nvSpPr>
        <p:spPr>
          <a:xfrm>
            <a:off x="4819836" y="3461705"/>
            <a:ext cx="1895475" cy="619125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6"/>
          <p:cNvSpPr/>
          <p:nvPr/>
        </p:nvSpPr>
        <p:spPr>
          <a:xfrm>
            <a:off x="4817641" y="3538165"/>
            <a:ext cx="681038" cy="185738"/>
          </a:xfrm>
          <a:prstGeom prst="rect">
            <a:avLst/>
          </a:prstGeom>
          <a:solidFill>
            <a:srgbClr val="C9E7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4901059" y="3570684"/>
            <a:ext cx="72561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96" dirty="0">
                <a:solidFill>
                  <a:srgbClr val="135B5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 SDG 8</a:t>
            </a:r>
            <a:endParaRPr lang="en-US" sz="680" dirty="0"/>
          </a:p>
        </p:txBody>
      </p:sp>
      <p:sp>
        <p:nvSpPr>
          <p:cNvPr id="41" name="Text 38"/>
          <p:cNvSpPr/>
          <p:nvPr/>
        </p:nvSpPr>
        <p:spPr>
          <a:xfrm>
            <a:off x="4818831" y="3775025"/>
            <a:ext cx="1369405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830" b="1" dirty="0">
                <a:solidFill>
                  <a:srgbClr val="3C4C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Workplace Safety</a:t>
            </a:r>
            <a:endParaRPr lang="en-US" sz="830" dirty="0"/>
          </a:p>
        </p:txBody>
      </p:sp>
      <p:sp>
        <p:nvSpPr>
          <p:cNvPr id="42" name="Shape 39"/>
          <p:cNvSpPr/>
          <p:nvPr/>
        </p:nvSpPr>
        <p:spPr>
          <a:xfrm>
            <a:off x="6808701" y="3461705"/>
            <a:ext cx="1895475" cy="619125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0"/>
          <p:cNvSpPr/>
          <p:nvPr/>
        </p:nvSpPr>
        <p:spPr>
          <a:xfrm>
            <a:off x="6807659" y="3538165"/>
            <a:ext cx="742950" cy="185738"/>
          </a:xfrm>
          <a:prstGeom prst="rect">
            <a:avLst/>
          </a:prstGeom>
          <a:solidFill>
            <a:srgbClr val="C9E7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6889924" y="3570684"/>
            <a:ext cx="80909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96" dirty="0">
                <a:solidFill>
                  <a:srgbClr val="135B5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 SDG 11</a:t>
            </a:r>
            <a:endParaRPr lang="en-US" sz="680" dirty="0"/>
          </a:p>
        </p:txBody>
      </p:sp>
      <p:sp>
        <p:nvSpPr>
          <p:cNvPr id="45" name="Text 42"/>
          <p:cNvSpPr/>
          <p:nvPr/>
        </p:nvSpPr>
        <p:spPr>
          <a:xfrm>
            <a:off x="6807696" y="3775025"/>
            <a:ext cx="1697444" cy="295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830" b="1" dirty="0">
                <a:solidFill>
                  <a:srgbClr val="3C4C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Sustainable Cities &amp;</a:t>
            </a:r>
            <a:endParaRPr lang="en-US" sz="83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830" b="1" dirty="0">
                <a:solidFill>
                  <a:srgbClr val="3C4C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Communities</a:t>
            </a:r>
            <a:endParaRPr lang="en-US" sz="830" dirty="0"/>
          </a:p>
        </p:txBody>
      </p:sp>
      <p:sp>
        <p:nvSpPr>
          <p:cNvPr id="46" name="Text 43"/>
          <p:cNvSpPr/>
          <p:nvPr/>
        </p:nvSpPr>
        <p:spPr>
          <a:xfrm>
            <a:off x="438894" y="4829398"/>
            <a:ext cx="1975277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kern="0" spc="117" dirty="0">
                <a:solidFill>
                  <a:srgbClr val="6872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CUSTODIA |PROJECT CALL</a:t>
            </a:r>
            <a:endParaRPr lang="en-US" sz="650" dirty="0"/>
          </a:p>
        </p:txBody>
      </p:sp>
      <p:sp>
        <p:nvSpPr>
          <p:cNvPr id="47" name="Text 44"/>
          <p:cNvSpPr/>
          <p:nvPr/>
        </p:nvSpPr>
        <p:spPr>
          <a:xfrm>
            <a:off x="6716464" y="4829398"/>
            <a:ext cx="2642384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kern="0" spc="117" dirty="0">
                <a:solidFill>
                  <a:srgbClr val="6872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PRESENTATION \OPERATIONS BRIEF</a:t>
            </a:r>
            <a:endParaRPr lang="en-US" sz="650" dirty="0"/>
          </a:p>
        </p:txBody>
      </p:sp>
      <p:pic>
        <p:nvPicPr>
          <p:cNvPr id="4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150" y="195783"/>
            <a:ext cx="8267700" cy="271463"/>
          </a:xfrm>
          <a:prstGeom prst="rect">
            <a:avLst/>
          </a:prstGeom>
        </p:spPr>
      </p:pic>
      <p:pic>
        <p:nvPicPr>
          <p:cNvPr id="4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301" y="2893591"/>
            <a:ext cx="3824287" cy="261937"/>
          </a:xfrm>
          <a:prstGeom prst="rect">
            <a:avLst/>
          </a:prstGeom>
        </p:spPr>
      </p:pic>
      <p:pic>
        <p:nvPicPr>
          <p:cNvPr id="5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19836" y="3461705"/>
            <a:ext cx="1895475" cy="619125"/>
          </a:xfrm>
          <a:prstGeom prst="rect">
            <a:avLst/>
          </a:prstGeom>
        </p:spPr>
      </p:pic>
      <p:pic>
        <p:nvPicPr>
          <p:cNvPr id="5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08701" y="3461705"/>
            <a:ext cx="1895475" cy="619125"/>
          </a:xfrm>
          <a:prstGeom prst="rect">
            <a:avLst/>
          </a:prstGeom>
        </p:spPr>
      </p:pic>
      <p:pic>
        <p:nvPicPr>
          <p:cNvPr id="5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8150" y="4728158"/>
            <a:ext cx="826770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3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38150" y="195783"/>
            <a:ext cx="8267700" cy="271463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38224" y="194742"/>
            <a:ext cx="176212" cy="176212"/>
          </a:xfrm>
          <a:prstGeom prst="rect">
            <a:avLst/>
          </a:prstGeom>
          <a:solidFill>
            <a:srgbClr val="0D8E83"/>
          </a:solidFill>
          <a:ln w="4763">
            <a:solidFill>
              <a:srgbClr val="0D8E8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76" y="226293"/>
            <a:ext cx="113109" cy="1131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5148" y="215578"/>
            <a:ext cx="87584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166" dirty="0">
                <a:solidFill>
                  <a:srgbClr val="171B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CUSTODIA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1426294" y="222498"/>
            <a:ext cx="14459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kern="0" spc="150" dirty="0">
                <a:solidFill>
                  <a:srgbClr val="7781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SAFETY HUB |01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7417966" y="222498"/>
            <a:ext cx="173043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123" dirty="0">
                <a:solidFill>
                  <a:srgbClr val="6872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| BUSINESS LOGIC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438894" y="724793"/>
            <a:ext cx="154227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189" dirty="0">
                <a:solidFill>
                  <a:srgbClr val="0D8E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ALERT PIPELINE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438894" y="873323"/>
            <a:ext cx="6710035" cy="395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2590" b="1" kern="0" spc="-143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One reading becomes one coordinated response.</a:t>
            </a:r>
            <a:endParaRPr lang="en-US" sz="2590" dirty="0"/>
          </a:p>
        </p:txBody>
      </p:sp>
      <p:sp>
        <p:nvSpPr>
          <p:cNvPr id="11" name="Shape 8"/>
          <p:cNvSpPr/>
          <p:nvPr/>
        </p:nvSpPr>
        <p:spPr>
          <a:xfrm>
            <a:off x="439527" y="1427820"/>
            <a:ext cx="1457325" cy="1366837"/>
          </a:xfrm>
          <a:prstGeom prst="rect">
            <a:avLst/>
          </a:prstGeom>
          <a:solidFill>
            <a:srgbClr val="F8F9F6"/>
          </a:solidFill>
          <a:ln w="4763">
            <a:solidFill>
              <a:srgbClr val="C7CE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26492" y="1619994"/>
            <a:ext cx="96039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137" dirty="0">
                <a:solidFill>
                  <a:srgbClr val="7781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SENSE</a:t>
            </a:r>
            <a:endParaRPr lang="en-US" sz="680" dirty="0"/>
          </a:p>
        </p:txBody>
      </p:sp>
      <p:sp>
        <p:nvSpPr>
          <p:cNvPr id="13" name="Text 10"/>
          <p:cNvSpPr/>
          <p:nvPr/>
        </p:nvSpPr>
        <p:spPr>
          <a:xfrm>
            <a:off x="626492" y="1814215"/>
            <a:ext cx="1128526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729"/>
              </a:spcBef>
              <a:buNone/>
            </a:pPr>
            <a:r>
              <a:rPr lang="en-US" sz="1330" b="1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Sensor reads</a:t>
            </a:r>
            <a:endParaRPr lang="en-US" sz="1330" dirty="0"/>
          </a:p>
        </p:txBody>
      </p:sp>
      <p:sp>
        <p:nvSpPr>
          <p:cNvPr id="14" name="Text 11"/>
          <p:cNvSpPr/>
          <p:nvPr/>
        </p:nvSpPr>
        <p:spPr>
          <a:xfrm>
            <a:off x="626492" y="1974875"/>
            <a:ext cx="500502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729"/>
              </a:spcBef>
              <a:buNone/>
            </a:pPr>
            <a:r>
              <a:rPr lang="en-US" sz="1330" b="1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value</a:t>
            </a:r>
            <a:endParaRPr lang="en-US" sz="1330" dirty="0"/>
          </a:p>
        </p:txBody>
      </p:sp>
      <p:sp>
        <p:nvSpPr>
          <p:cNvPr id="15" name="Text 12"/>
          <p:cNvSpPr/>
          <p:nvPr/>
        </p:nvSpPr>
        <p:spPr>
          <a:xfrm>
            <a:off x="626492" y="2206749"/>
            <a:ext cx="103788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900" dirty="0">
                <a:solidFill>
                  <a:srgbClr val="4C5A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gas, flame,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26492" y="2334741"/>
            <a:ext cx="1305364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900" dirty="0">
                <a:solidFill>
                  <a:srgbClr val="4C5A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temp, humidity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975098" y="2015803"/>
            <a:ext cx="17168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D8E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2141451" y="1427820"/>
            <a:ext cx="1457325" cy="1366837"/>
          </a:xfrm>
          <a:prstGeom prst="rect">
            <a:avLst/>
          </a:prstGeom>
          <a:solidFill>
            <a:srgbClr val="F8F9F6"/>
          </a:solidFill>
          <a:ln w="4763">
            <a:solidFill>
              <a:srgbClr val="C7CE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2328416" y="1619994"/>
            <a:ext cx="105074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137" dirty="0">
                <a:solidFill>
                  <a:srgbClr val="7781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DECIDE</a:t>
            </a:r>
            <a:endParaRPr lang="en-US" sz="680" dirty="0"/>
          </a:p>
        </p:txBody>
      </p:sp>
      <p:sp>
        <p:nvSpPr>
          <p:cNvPr id="20" name="Text 17"/>
          <p:cNvSpPr/>
          <p:nvPr/>
        </p:nvSpPr>
        <p:spPr>
          <a:xfrm>
            <a:off x="2328416" y="1814215"/>
            <a:ext cx="781043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729"/>
              </a:spcBef>
              <a:buNone/>
            </a:pPr>
            <a:r>
              <a:rPr lang="en-US" sz="1330" b="1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Compare</a:t>
            </a:r>
            <a:endParaRPr lang="en-US" sz="1330" dirty="0"/>
          </a:p>
        </p:txBody>
      </p:sp>
      <p:sp>
        <p:nvSpPr>
          <p:cNvPr id="21" name="Text 18"/>
          <p:cNvSpPr/>
          <p:nvPr/>
        </p:nvSpPr>
        <p:spPr>
          <a:xfrm>
            <a:off x="2328416" y="1974875"/>
            <a:ext cx="834055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729"/>
              </a:spcBef>
              <a:buNone/>
            </a:pPr>
            <a:r>
              <a:rPr lang="en-US" sz="1330" b="1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threshold</a:t>
            </a:r>
            <a:endParaRPr lang="en-US" sz="1330" dirty="0"/>
          </a:p>
        </p:txBody>
      </p:sp>
      <p:sp>
        <p:nvSpPr>
          <p:cNvPr id="22" name="Text 19"/>
          <p:cNvSpPr/>
          <p:nvPr/>
        </p:nvSpPr>
        <p:spPr>
          <a:xfrm>
            <a:off x="2328416" y="2206749"/>
            <a:ext cx="94869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900" dirty="0">
                <a:solidFill>
                  <a:srgbClr val="4C5A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warning or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328416" y="2334741"/>
            <a:ext cx="1305364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900" dirty="0">
                <a:solidFill>
                  <a:srgbClr val="4C5A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critical state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677022" y="2015803"/>
            <a:ext cx="17168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D8E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843375" y="1427820"/>
            <a:ext cx="1457325" cy="1366837"/>
          </a:xfrm>
          <a:prstGeom prst="rect">
            <a:avLst/>
          </a:prstGeom>
          <a:solidFill>
            <a:srgbClr val="FFF5DC"/>
          </a:solidFill>
          <a:ln w="4763">
            <a:solidFill>
              <a:srgbClr val="E0C4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4030340" y="1619994"/>
            <a:ext cx="779785" cy="244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680" b="1" kern="0" spc="137" dirty="0">
                <a:solidFill>
                  <a:srgbClr val="7781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ACT</a:t>
            </a:r>
            <a:endParaRPr lang="en-US" sz="680" dirty="0"/>
          </a:p>
          <a:p>
            <a:pPr marL="0" indent="0" algn="l">
              <a:lnSpc>
                <a:spcPts val="1025"/>
              </a:lnSpc>
              <a:buNone/>
            </a:pPr>
            <a:r>
              <a:rPr lang="en-US" sz="680" b="1" kern="0" spc="137" dirty="0">
                <a:solidFill>
                  <a:srgbClr val="7781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LOCALLY</a:t>
            </a:r>
            <a:endParaRPr lang="en-US" sz="680" dirty="0"/>
          </a:p>
        </p:txBody>
      </p:sp>
      <p:sp>
        <p:nvSpPr>
          <p:cNvPr id="27" name="Text 24"/>
          <p:cNvSpPr/>
          <p:nvPr/>
        </p:nvSpPr>
        <p:spPr>
          <a:xfrm>
            <a:off x="4030340" y="1944439"/>
            <a:ext cx="1225652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729"/>
              </a:spcBef>
              <a:buNone/>
            </a:pPr>
            <a:r>
              <a:rPr lang="en-US" sz="1330" b="1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Buzzer / LED /</a:t>
            </a:r>
            <a:endParaRPr lang="en-US" sz="1330" dirty="0"/>
          </a:p>
        </p:txBody>
      </p:sp>
      <p:sp>
        <p:nvSpPr>
          <p:cNvPr id="28" name="Text 25"/>
          <p:cNvSpPr/>
          <p:nvPr/>
        </p:nvSpPr>
        <p:spPr>
          <a:xfrm>
            <a:off x="4030340" y="2105099"/>
            <a:ext cx="469449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729"/>
              </a:spcBef>
              <a:buNone/>
            </a:pPr>
            <a:r>
              <a:rPr lang="en-US" sz="1330" b="1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relay</a:t>
            </a:r>
            <a:endParaRPr lang="en-US" sz="1330" dirty="0"/>
          </a:p>
        </p:txBody>
      </p:sp>
      <p:sp>
        <p:nvSpPr>
          <p:cNvPr id="29" name="Text 26"/>
          <p:cNvSpPr/>
          <p:nvPr/>
        </p:nvSpPr>
        <p:spPr>
          <a:xfrm>
            <a:off x="4030340" y="2336974"/>
            <a:ext cx="103788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900" dirty="0">
                <a:solidFill>
                  <a:srgbClr val="4C5A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node reacts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030340" y="2464966"/>
            <a:ext cx="103788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900" dirty="0">
                <a:solidFill>
                  <a:srgbClr val="4C5A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immediately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378946" y="2015803"/>
            <a:ext cx="17168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D8E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5545299" y="1427820"/>
            <a:ext cx="1457325" cy="1366837"/>
          </a:xfrm>
          <a:prstGeom prst="rect">
            <a:avLst/>
          </a:prstGeom>
          <a:solidFill>
            <a:srgbClr val="F8F9F6"/>
          </a:solidFill>
          <a:ln w="4763">
            <a:solidFill>
              <a:srgbClr val="C7CE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5732264" y="1619994"/>
            <a:ext cx="87013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137" dirty="0">
                <a:solidFill>
                  <a:srgbClr val="7781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PUSH</a:t>
            </a:r>
            <a:endParaRPr lang="en-US" sz="680" dirty="0"/>
          </a:p>
        </p:txBody>
      </p:sp>
      <p:sp>
        <p:nvSpPr>
          <p:cNvPr id="34" name="Text 31"/>
          <p:cNvSpPr/>
          <p:nvPr/>
        </p:nvSpPr>
        <p:spPr>
          <a:xfrm>
            <a:off x="5732264" y="1814215"/>
            <a:ext cx="1140619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729"/>
              </a:spcBef>
              <a:buNone/>
            </a:pPr>
            <a:r>
              <a:rPr lang="en-US" sz="1330" b="1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Alert payload</a:t>
            </a:r>
            <a:endParaRPr lang="en-US" sz="1330" dirty="0"/>
          </a:p>
        </p:txBody>
      </p:sp>
      <p:sp>
        <p:nvSpPr>
          <p:cNvPr id="35" name="Text 32"/>
          <p:cNvSpPr/>
          <p:nvPr/>
        </p:nvSpPr>
        <p:spPr>
          <a:xfrm>
            <a:off x="5732264" y="2046089"/>
            <a:ext cx="1305364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900" dirty="0">
                <a:solidFill>
                  <a:srgbClr val="4C5A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MQTT / REST to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732264" y="2174081"/>
            <a:ext cx="68130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900" dirty="0">
                <a:solidFill>
                  <a:srgbClr val="4C5A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backend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080870" y="2015803"/>
            <a:ext cx="17168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D8E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7247223" y="1427820"/>
            <a:ext cx="1457325" cy="1366837"/>
          </a:xfrm>
          <a:prstGeom prst="rect">
            <a:avLst/>
          </a:prstGeom>
          <a:solidFill>
            <a:srgbClr val="FFF0EE"/>
          </a:solidFill>
          <a:ln w="4763">
            <a:solidFill>
              <a:srgbClr val="D99C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7434188" y="1619994"/>
            <a:ext cx="141206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137" dirty="0">
                <a:solidFill>
                  <a:srgbClr val="7781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COORDINATE</a:t>
            </a:r>
            <a:endParaRPr lang="en-US" sz="680" dirty="0"/>
          </a:p>
        </p:txBody>
      </p:sp>
      <p:sp>
        <p:nvSpPr>
          <p:cNvPr id="40" name="Text 37"/>
          <p:cNvSpPr/>
          <p:nvPr/>
        </p:nvSpPr>
        <p:spPr>
          <a:xfrm>
            <a:off x="7434188" y="1814215"/>
            <a:ext cx="550418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729"/>
              </a:spcBef>
              <a:buNone/>
            </a:pPr>
            <a:r>
              <a:rPr lang="en-US" sz="1330" b="1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Notify</a:t>
            </a:r>
            <a:endParaRPr lang="en-US" sz="1330" dirty="0"/>
          </a:p>
        </p:txBody>
      </p:sp>
      <p:sp>
        <p:nvSpPr>
          <p:cNvPr id="41" name="Text 38"/>
          <p:cNvSpPr/>
          <p:nvPr/>
        </p:nvSpPr>
        <p:spPr>
          <a:xfrm>
            <a:off x="7434188" y="1974875"/>
            <a:ext cx="986031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729"/>
              </a:spcBef>
              <a:buNone/>
            </a:pPr>
            <a:r>
              <a:rPr lang="en-US" sz="1330" b="1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responders</a:t>
            </a:r>
            <a:endParaRPr lang="en-US" sz="1330" dirty="0"/>
          </a:p>
        </p:txBody>
      </p:sp>
      <p:sp>
        <p:nvSpPr>
          <p:cNvPr id="42" name="Text 39"/>
          <p:cNvSpPr/>
          <p:nvPr/>
        </p:nvSpPr>
        <p:spPr>
          <a:xfrm>
            <a:off x="7434188" y="2206749"/>
            <a:ext cx="11270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900" dirty="0">
                <a:solidFill>
                  <a:srgbClr val="4C5A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log, update,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7434188" y="2334741"/>
            <a:ext cx="59211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900" dirty="0">
                <a:solidFill>
                  <a:srgbClr val="4C5A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notify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439006" y="2948136"/>
            <a:ext cx="4757738" cy="1133475"/>
          </a:xfrm>
          <a:prstGeom prst="rect">
            <a:avLst/>
          </a:prstGeom>
          <a:solidFill>
            <a:srgbClr val="24445D"/>
          </a:solidFill>
          <a:ln w="4763">
            <a:solidFill>
              <a:srgbClr val="2949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2"/>
          <p:cNvSpPr/>
          <p:nvPr/>
        </p:nvSpPr>
        <p:spPr>
          <a:xfrm>
            <a:off x="626492" y="3141464"/>
            <a:ext cx="132171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137" dirty="0">
                <a:solidFill>
                  <a:srgbClr val="9CABB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DECISION RULES</a:t>
            </a:r>
            <a:endParaRPr lang="en-US" sz="680" dirty="0"/>
          </a:p>
        </p:txBody>
      </p:sp>
      <p:sp>
        <p:nvSpPr>
          <p:cNvPr id="46" name="Shape 43"/>
          <p:cNvSpPr/>
          <p:nvPr/>
        </p:nvSpPr>
        <p:spPr>
          <a:xfrm>
            <a:off x="626380" y="3369246"/>
            <a:ext cx="1400175" cy="619125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4"/>
          <p:cNvSpPr/>
          <p:nvPr/>
        </p:nvSpPr>
        <p:spPr>
          <a:xfrm>
            <a:off x="626492" y="3440237"/>
            <a:ext cx="67259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b="1" kern="0" spc="101" dirty="0">
                <a:solidFill>
                  <a:srgbClr val="EFC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WARNING</a:t>
            </a:r>
            <a:endParaRPr lang="en-US" sz="720" dirty="0"/>
          </a:p>
        </p:txBody>
      </p:sp>
      <p:sp>
        <p:nvSpPr>
          <p:cNvPr id="48" name="Text 45"/>
          <p:cNvSpPr/>
          <p:nvPr/>
        </p:nvSpPr>
        <p:spPr>
          <a:xfrm>
            <a:off x="626492" y="3594646"/>
            <a:ext cx="163301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94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Gas ppm rising or</a:t>
            </a:r>
            <a:endParaRPr lang="en-US" sz="940" dirty="0"/>
          </a:p>
        </p:txBody>
      </p:sp>
      <p:sp>
        <p:nvSpPr>
          <p:cNvPr id="49" name="Text 46"/>
          <p:cNvSpPr/>
          <p:nvPr/>
        </p:nvSpPr>
        <p:spPr>
          <a:xfrm>
            <a:off x="626492" y="3719364"/>
            <a:ext cx="181836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94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temp / humidity out</a:t>
            </a:r>
            <a:endParaRPr lang="en-US" sz="940" dirty="0"/>
          </a:p>
        </p:txBody>
      </p:sp>
      <p:sp>
        <p:nvSpPr>
          <p:cNvPr id="50" name="Text 47"/>
          <p:cNvSpPr/>
          <p:nvPr/>
        </p:nvSpPr>
        <p:spPr>
          <a:xfrm>
            <a:off x="626492" y="3844082"/>
            <a:ext cx="79874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94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 range</a:t>
            </a:r>
            <a:endParaRPr lang="en-US" sz="940" dirty="0"/>
          </a:p>
        </p:txBody>
      </p:sp>
      <p:sp>
        <p:nvSpPr>
          <p:cNvPr id="51" name="Shape 48"/>
          <p:cNvSpPr/>
          <p:nvPr/>
        </p:nvSpPr>
        <p:spPr>
          <a:xfrm>
            <a:off x="2117750" y="3369246"/>
            <a:ext cx="1400175" cy="619125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49"/>
          <p:cNvSpPr/>
          <p:nvPr/>
        </p:nvSpPr>
        <p:spPr>
          <a:xfrm>
            <a:off x="2117824" y="3440237"/>
            <a:ext cx="76053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b="1" kern="0" spc="101" dirty="0">
                <a:solidFill>
                  <a:srgbClr val="E56E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CRITICAL</a:t>
            </a:r>
            <a:endParaRPr lang="en-US" sz="720" dirty="0"/>
          </a:p>
        </p:txBody>
      </p:sp>
      <p:sp>
        <p:nvSpPr>
          <p:cNvPr id="53" name="Text 50"/>
          <p:cNvSpPr/>
          <p:nvPr/>
        </p:nvSpPr>
        <p:spPr>
          <a:xfrm>
            <a:off x="2117824" y="3594646"/>
            <a:ext cx="163301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94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Flame detected or</a:t>
            </a:r>
            <a:endParaRPr lang="en-US" sz="940" dirty="0"/>
          </a:p>
        </p:txBody>
      </p:sp>
      <p:sp>
        <p:nvSpPr>
          <p:cNvPr id="54" name="Text 51"/>
          <p:cNvSpPr/>
          <p:nvPr/>
        </p:nvSpPr>
        <p:spPr>
          <a:xfrm>
            <a:off x="2117824" y="3719364"/>
            <a:ext cx="107686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94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gas crosses</a:t>
            </a:r>
            <a:endParaRPr lang="en-US" sz="940" dirty="0"/>
          </a:p>
        </p:txBody>
      </p:sp>
      <p:sp>
        <p:nvSpPr>
          <p:cNvPr id="55" name="Text 52"/>
          <p:cNvSpPr/>
          <p:nvPr/>
        </p:nvSpPr>
        <p:spPr>
          <a:xfrm>
            <a:off x="2117824" y="3844082"/>
            <a:ext cx="172569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94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critical threshold</a:t>
            </a:r>
            <a:endParaRPr lang="en-US" sz="940" dirty="0"/>
          </a:p>
        </p:txBody>
      </p:sp>
      <p:sp>
        <p:nvSpPr>
          <p:cNvPr id="56" name="Shape 53"/>
          <p:cNvSpPr/>
          <p:nvPr/>
        </p:nvSpPr>
        <p:spPr>
          <a:xfrm>
            <a:off x="3609119" y="3369246"/>
            <a:ext cx="1400175" cy="619125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4"/>
          <p:cNvSpPr/>
          <p:nvPr/>
        </p:nvSpPr>
        <p:spPr>
          <a:xfrm>
            <a:off x="3609231" y="3440237"/>
            <a:ext cx="93640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b="1" kern="0" spc="101" dirty="0">
                <a:solidFill>
                  <a:srgbClr val="7CCD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AUTOMATION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3609231" y="3594646"/>
            <a:ext cx="163301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94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Relay-based power</a:t>
            </a:r>
            <a:endParaRPr lang="en-US" sz="940" dirty="0"/>
          </a:p>
        </p:txBody>
      </p:sp>
      <p:sp>
        <p:nvSpPr>
          <p:cNvPr id="59" name="Text 56"/>
          <p:cNvSpPr/>
          <p:nvPr/>
        </p:nvSpPr>
        <p:spPr>
          <a:xfrm>
            <a:off x="3609231" y="3719364"/>
            <a:ext cx="172569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94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cutoff on critical</a:t>
            </a:r>
            <a:endParaRPr lang="en-US" sz="940" dirty="0"/>
          </a:p>
        </p:txBody>
      </p:sp>
      <p:sp>
        <p:nvSpPr>
          <p:cNvPr id="60" name="Text 57"/>
          <p:cNvSpPr/>
          <p:nvPr/>
        </p:nvSpPr>
        <p:spPr>
          <a:xfrm>
            <a:off x="3609231" y="3844082"/>
            <a:ext cx="107686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94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gas / flame</a:t>
            </a:r>
            <a:endParaRPr lang="en-US" sz="940" dirty="0"/>
          </a:p>
        </p:txBody>
      </p:sp>
      <p:sp>
        <p:nvSpPr>
          <p:cNvPr id="61" name="Shape 58"/>
          <p:cNvSpPr/>
          <p:nvPr/>
        </p:nvSpPr>
        <p:spPr>
          <a:xfrm>
            <a:off x="5305574" y="2948136"/>
            <a:ext cx="3400425" cy="1133475"/>
          </a:xfrm>
          <a:prstGeom prst="rect">
            <a:avLst/>
          </a:prstGeom>
          <a:solidFill>
            <a:srgbClr val="F8F9F6"/>
          </a:solidFill>
          <a:ln w="4763">
            <a:solidFill>
              <a:srgbClr val="C7CE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59"/>
          <p:cNvSpPr/>
          <p:nvPr/>
        </p:nvSpPr>
        <p:spPr>
          <a:xfrm>
            <a:off x="5494139" y="3141464"/>
            <a:ext cx="105074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137" dirty="0">
                <a:solidFill>
                  <a:srgbClr val="7781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STATE MODEL</a:t>
            </a:r>
            <a:endParaRPr lang="en-US" sz="680" dirty="0"/>
          </a:p>
        </p:txBody>
      </p:sp>
      <p:sp>
        <p:nvSpPr>
          <p:cNvPr id="63" name="Shape 60"/>
          <p:cNvSpPr/>
          <p:nvPr/>
        </p:nvSpPr>
        <p:spPr>
          <a:xfrm>
            <a:off x="5493841" y="3447455"/>
            <a:ext cx="57150" cy="57150"/>
          </a:xfrm>
          <a:prstGeom prst="ellipse">
            <a:avLst/>
          </a:prstGeom>
          <a:solidFill>
            <a:srgbClr val="0D8E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1"/>
          <p:cNvSpPr/>
          <p:nvPr/>
        </p:nvSpPr>
        <p:spPr>
          <a:xfrm>
            <a:off x="5623843" y="3389561"/>
            <a:ext cx="65625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71B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Normal</a:t>
            </a:r>
            <a:endParaRPr lang="en-US" sz="1010" dirty="0"/>
          </a:p>
        </p:txBody>
      </p:sp>
      <p:sp>
        <p:nvSpPr>
          <p:cNvPr id="65" name="Shape 62"/>
          <p:cNvSpPr/>
          <p:nvPr/>
        </p:nvSpPr>
        <p:spPr>
          <a:xfrm>
            <a:off x="5493841" y="3701132"/>
            <a:ext cx="57150" cy="57150"/>
          </a:xfrm>
          <a:prstGeom prst="ellipse">
            <a:avLst/>
          </a:prstGeom>
          <a:solidFill>
            <a:srgbClr val="EFC6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3"/>
          <p:cNvSpPr/>
          <p:nvPr/>
        </p:nvSpPr>
        <p:spPr>
          <a:xfrm>
            <a:off x="5623843" y="3643238"/>
            <a:ext cx="75608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71B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Warning</a:t>
            </a:r>
            <a:endParaRPr lang="en-US" sz="1010" dirty="0"/>
          </a:p>
        </p:txBody>
      </p:sp>
      <p:sp>
        <p:nvSpPr>
          <p:cNvPr id="67" name="Shape 64"/>
          <p:cNvSpPr/>
          <p:nvPr/>
        </p:nvSpPr>
        <p:spPr>
          <a:xfrm>
            <a:off x="5493841" y="3954810"/>
            <a:ext cx="57150" cy="57150"/>
          </a:xfrm>
          <a:prstGeom prst="ellipse">
            <a:avLst/>
          </a:prstGeom>
          <a:solidFill>
            <a:srgbClr val="E56E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5"/>
          <p:cNvSpPr/>
          <p:nvPr/>
        </p:nvSpPr>
        <p:spPr>
          <a:xfrm>
            <a:off x="5623843" y="3896916"/>
            <a:ext cx="85591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71B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Critical</a:t>
            </a:r>
            <a:endParaRPr lang="en-US" sz="1010" dirty="0"/>
          </a:p>
        </p:txBody>
      </p:sp>
      <p:sp>
        <p:nvSpPr>
          <p:cNvPr id="69" name="Text 66"/>
          <p:cNvSpPr/>
          <p:nvPr/>
        </p:nvSpPr>
        <p:spPr>
          <a:xfrm>
            <a:off x="438894" y="4829398"/>
            <a:ext cx="1975277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kern="0" spc="117" dirty="0">
                <a:solidFill>
                  <a:srgbClr val="6872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CUSTODIA |PROJECT CALL</a:t>
            </a:r>
            <a:endParaRPr lang="en-US" sz="650" dirty="0"/>
          </a:p>
        </p:txBody>
      </p:sp>
      <p:sp>
        <p:nvSpPr>
          <p:cNvPr id="70" name="Text 67"/>
          <p:cNvSpPr/>
          <p:nvPr/>
        </p:nvSpPr>
        <p:spPr>
          <a:xfrm>
            <a:off x="6716464" y="4829398"/>
            <a:ext cx="2642384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kern="0" spc="117" dirty="0">
                <a:solidFill>
                  <a:srgbClr val="6872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PRESENTATION |OPERATIONS BRIEF</a:t>
            </a:r>
            <a:endParaRPr lang="en-US" sz="650" dirty="0"/>
          </a:p>
        </p:txBody>
      </p:sp>
      <p:pic>
        <p:nvPicPr>
          <p:cNvPr id="7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150" y="195783"/>
            <a:ext cx="8267700" cy="271463"/>
          </a:xfrm>
          <a:prstGeom prst="rect">
            <a:avLst/>
          </a:prstGeom>
        </p:spPr>
      </p:pic>
      <p:pic>
        <p:nvPicPr>
          <p:cNvPr id="7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6380" y="3369246"/>
            <a:ext cx="1400175" cy="619125"/>
          </a:xfrm>
          <a:prstGeom prst="rect">
            <a:avLst/>
          </a:prstGeom>
        </p:spPr>
      </p:pic>
      <p:pic>
        <p:nvPicPr>
          <p:cNvPr id="7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17750" y="3369246"/>
            <a:ext cx="1400175" cy="619125"/>
          </a:xfrm>
          <a:prstGeom prst="rect">
            <a:avLst/>
          </a:prstGeom>
        </p:spPr>
      </p:pic>
      <p:pic>
        <p:nvPicPr>
          <p:cNvPr id="7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09119" y="3369246"/>
            <a:ext cx="1400175" cy="619125"/>
          </a:xfrm>
          <a:prstGeom prst="rect">
            <a:avLst/>
          </a:prstGeom>
        </p:spPr>
      </p:pic>
      <p:pic>
        <p:nvPicPr>
          <p:cNvPr id="7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8150" y="4728158"/>
            <a:ext cx="826770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3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38150" y="195783"/>
            <a:ext cx="8267700" cy="271463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38224" y="194742"/>
            <a:ext cx="176212" cy="176212"/>
          </a:xfrm>
          <a:prstGeom prst="rect">
            <a:avLst/>
          </a:prstGeom>
          <a:solidFill>
            <a:srgbClr val="0D8E83"/>
          </a:solidFill>
          <a:ln w="4763">
            <a:solidFill>
              <a:srgbClr val="0D8E8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76" y="226293"/>
            <a:ext cx="113109" cy="1131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5148" y="215578"/>
            <a:ext cx="87584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166" dirty="0">
                <a:solidFill>
                  <a:srgbClr val="171B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CUSTODIA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1426294" y="222498"/>
            <a:ext cx="14459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kern="0" spc="150" dirty="0">
                <a:solidFill>
                  <a:srgbClr val="7781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SAFETY HUB | 01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7621191" y="222498"/>
            <a:ext cx="146624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123" dirty="0">
                <a:solidFill>
                  <a:srgbClr val="6872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| APPLICATION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438894" y="724793"/>
            <a:ext cx="249698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189" dirty="0">
                <a:solidFill>
                  <a:srgbClr val="0D8E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APPLICATION OF THE IDEA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438894" y="873696"/>
            <a:ext cx="367119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27"/>
              </a:spcBef>
              <a:buNone/>
            </a:pPr>
            <a:r>
              <a:rPr lang="en-US" sz="2810" b="1" kern="0" spc="-168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The same safety picture,</a:t>
            </a:r>
            <a:endParaRPr lang="en-US" sz="2810" dirty="0"/>
          </a:p>
        </p:txBody>
      </p:sp>
      <p:sp>
        <p:nvSpPr>
          <p:cNvPr id="11" name="Text 8"/>
          <p:cNvSpPr/>
          <p:nvPr/>
        </p:nvSpPr>
        <p:spPr>
          <a:xfrm>
            <a:off x="438894" y="1194569"/>
            <a:ext cx="31461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27"/>
              </a:spcBef>
              <a:buNone/>
            </a:pPr>
            <a:r>
              <a:rPr lang="en-US" sz="2810" b="1" kern="0" spc="-168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wherever the zone is.</a:t>
            </a:r>
            <a:endParaRPr lang="en-US" sz="2810" dirty="0"/>
          </a:p>
        </p:txBody>
      </p:sp>
      <p:sp>
        <p:nvSpPr>
          <p:cNvPr id="12" name="Text 9"/>
          <p:cNvSpPr/>
          <p:nvPr/>
        </p:nvSpPr>
        <p:spPr>
          <a:xfrm>
            <a:off x="6510561" y="1126182"/>
            <a:ext cx="227061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low-cost node becomes</a:t>
            </a:r>
            <a:endParaRPr lang="en-US" sz="970" dirty="0"/>
          </a:p>
        </p:txBody>
      </p:sp>
      <p:sp>
        <p:nvSpPr>
          <p:cNvPr id="13" name="Text 10"/>
          <p:cNvSpPr/>
          <p:nvPr/>
        </p:nvSpPr>
        <p:spPr>
          <a:xfrm>
            <a:off x="6510561" y="1271811"/>
            <a:ext cx="284804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useful when it joins a shared</a:t>
            </a:r>
            <a:endParaRPr lang="en-US" sz="970" dirty="0"/>
          </a:p>
        </p:txBody>
      </p:sp>
      <p:sp>
        <p:nvSpPr>
          <p:cNvPr id="14" name="Text 11"/>
          <p:cNvSpPr/>
          <p:nvPr/>
        </p:nvSpPr>
        <p:spPr>
          <a:xfrm>
            <a:off x="6510561" y="1417439"/>
            <a:ext cx="169318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operational view.</a:t>
            </a:r>
            <a:endParaRPr lang="en-US" sz="970" dirty="0"/>
          </a:p>
        </p:txBody>
      </p:sp>
      <p:sp>
        <p:nvSpPr>
          <p:cNvPr id="15" name="Shape 12"/>
          <p:cNvSpPr/>
          <p:nvPr/>
        </p:nvSpPr>
        <p:spPr>
          <a:xfrm>
            <a:off x="438336" y="1778273"/>
            <a:ext cx="2695575" cy="1285875"/>
          </a:xfrm>
          <a:prstGeom prst="rect">
            <a:avLst/>
          </a:prstGeom>
          <a:solidFill>
            <a:srgbClr val="F8F9F6"/>
          </a:solidFill>
          <a:ln w="4763">
            <a:solidFill>
              <a:srgbClr val="C7CE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26492" y="1970633"/>
            <a:ext cx="6894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137" dirty="0">
                <a:solidFill>
                  <a:srgbClr val="7781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SCHOOLS</a:t>
            </a:r>
            <a:endParaRPr lang="en-US" sz="680" dirty="0"/>
          </a:p>
        </p:txBody>
      </p:sp>
      <p:sp>
        <p:nvSpPr>
          <p:cNvPr id="17" name="Text 14"/>
          <p:cNvSpPr/>
          <p:nvPr/>
        </p:nvSpPr>
        <p:spPr>
          <a:xfrm>
            <a:off x="626492" y="2196108"/>
            <a:ext cx="2252045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013"/>
              </a:spcBef>
              <a:buNone/>
            </a:pPr>
            <a:r>
              <a:rPr lang="en-US" sz="1550" b="1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Protect shared spaces.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626492" y="2468314"/>
            <a:ext cx="255348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900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Detect gas, flame, or unsafe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26492" y="2596307"/>
            <a:ext cx="2642674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900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conditions across classrooms,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26492" y="2724299"/>
            <a:ext cx="210771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900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labs, and common areas.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224175" y="1778273"/>
            <a:ext cx="2695575" cy="1285875"/>
          </a:xfrm>
          <a:prstGeom prst="rect">
            <a:avLst/>
          </a:prstGeom>
          <a:solidFill>
            <a:srgbClr val="F8F9F6"/>
          </a:solidFill>
          <a:ln w="4763">
            <a:solidFill>
              <a:srgbClr val="C7CE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3412331" y="1970633"/>
            <a:ext cx="195399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137" dirty="0">
                <a:solidFill>
                  <a:srgbClr val="7781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RESIDENTIAL BUILDINGS</a:t>
            </a:r>
            <a:endParaRPr lang="en-US" sz="680" dirty="0"/>
          </a:p>
        </p:txBody>
      </p:sp>
      <p:sp>
        <p:nvSpPr>
          <p:cNvPr id="23" name="Text 20"/>
          <p:cNvSpPr/>
          <p:nvPr/>
        </p:nvSpPr>
        <p:spPr>
          <a:xfrm>
            <a:off x="3412331" y="2196108"/>
            <a:ext cx="1700250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013"/>
              </a:spcBef>
              <a:buNone/>
            </a:pPr>
            <a:r>
              <a:rPr lang="en-US" sz="1550" b="1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See risk by room.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3412331" y="2468314"/>
            <a:ext cx="201861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900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Give facility teams a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412331" y="2596307"/>
            <a:ext cx="299925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900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multi-building status grid instead of a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412331" y="2724299"/>
            <a:ext cx="166194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900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single alarm tone.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010015" y="1778273"/>
            <a:ext cx="2695575" cy="1285875"/>
          </a:xfrm>
          <a:prstGeom prst="rect">
            <a:avLst/>
          </a:prstGeom>
          <a:solidFill>
            <a:srgbClr val="F8F9F6"/>
          </a:solidFill>
          <a:ln w="4763">
            <a:solidFill>
              <a:srgbClr val="C7CE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6198171" y="1970633"/>
            <a:ext cx="2134605" cy="244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5"/>
              </a:lnSpc>
              <a:buNone/>
            </a:pPr>
            <a:r>
              <a:rPr lang="en-US" sz="680" b="1" kern="0" spc="137" dirty="0">
                <a:solidFill>
                  <a:srgbClr val="7781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INDUSTRIAL WORKPLACES /</a:t>
            </a:r>
            <a:endParaRPr lang="en-US" sz="680" dirty="0"/>
          </a:p>
          <a:p>
            <a:pPr marL="0" indent="0" algn="l">
              <a:lnSpc>
                <a:spcPts val="1025"/>
              </a:lnSpc>
              <a:buNone/>
            </a:pPr>
            <a:r>
              <a:rPr lang="en-US" sz="680" b="1" kern="0" spc="137" dirty="0">
                <a:solidFill>
                  <a:srgbClr val="7781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WAREHOUSES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6198171" y="2326332"/>
            <a:ext cx="2433719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013"/>
              </a:spcBef>
              <a:buNone/>
            </a:pPr>
            <a:r>
              <a:rPr lang="en-US" sz="1550" b="1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Coordinate the response.</a:t>
            </a:r>
            <a:endParaRPr lang="en-US" sz="1550" dirty="0"/>
          </a:p>
        </p:txBody>
      </p:sp>
      <p:sp>
        <p:nvSpPr>
          <p:cNvPr id="30" name="Text 27"/>
          <p:cNvSpPr/>
          <p:nvPr/>
        </p:nvSpPr>
        <p:spPr>
          <a:xfrm>
            <a:off x="6198171" y="2598539"/>
            <a:ext cx="255348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900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Combine concentration, exact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198171" y="2726531"/>
            <a:ext cx="299925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900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location, and visual confirmation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198171" y="2854523"/>
            <a:ext cx="255348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900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 faster, safer decisions.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39489" y="3166021"/>
            <a:ext cx="4086225" cy="1003472"/>
          </a:xfrm>
          <a:prstGeom prst="rect">
            <a:avLst/>
          </a:prstGeom>
          <a:solidFill>
            <a:srgbClr val="24445D"/>
          </a:solidFill>
          <a:ln w="4763">
            <a:solidFill>
              <a:srgbClr val="2949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626492" y="3359348"/>
            <a:ext cx="195399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137" dirty="0">
                <a:solidFill>
                  <a:srgbClr val="9CABB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FACILITY MANAGER VIEW</a:t>
            </a:r>
            <a:endParaRPr lang="en-US" sz="680" dirty="0"/>
          </a:p>
        </p:txBody>
      </p:sp>
      <p:sp>
        <p:nvSpPr>
          <p:cNvPr id="35" name="Text 32"/>
          <p:cNvSpPr/>
          <p:nvPr/>
        </p:nvSpPr>
        <p:spPr>
          <a:xfrm>
            <a:off x="626492" y="3543672"/>
            <a:ext cx="23653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89"/>
              </a:spcBef>
              <a:buNone/>
            </a:pPr>
            <a:r>
              <a:rPr lang="en-US" sz="1510" b="1" dirty="0">
                <a:solidFill>
                  <a:srgbClr val="F4F5F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Multi-building status grid</a:t>
            </a:r>
            <a:endParaRPr lang="en-US" sz="1510" dirty="0"/>
          </a:p>
        </p:txBody>
      </p:sp>
      <p:sp>
        <p:nvSpPr>
          <p:cNvPr id="36" name="Text 33"/>
          <p:cNvSpPr/>
          <p:nvPr/>
        </p:nvSpPr>
        <p:spPr>
          <a:xfrm>
            <a:off x="626492" y="3809777"/>
            <a:ext cx="4677177" cy="307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dirty="0">
                <a:solidFill>
                  <a:srgbClr val="C8D0D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Spot which building, zone, or room has an issue before</a:t>
            </a:r>
            <a:endParaRPr lang="en-US" sz="860" dirty="0"/>
          </a:p>
          <a:p>
            <a:pPr marL="0" indent="0" algn="l">
              <a:lnSpc>
                <a:spcPts val="1296"/>
              </a:lnSpc>
              <a:buNone/>
            </a:pPr>
            <a:r>
              <a:rPr lang="en-US" sz="860" dirty="0">
                <a:solidFill>
                  <a:srgbClr val="C8D0D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walking the floor.</a:t>
            </a:r>
            <a:endParaRPr lang="en-US" sz="860" dirty="0"/>
          </a:p>
        </p:txBody>
      </p:sp>
      <p:sp>
        <p:nvSpPr>
          <p:cNvPr id="37" name="Shape 34"/>
          <p:cNvSpPr/>
          <p:nvPr/>
        </p:nvSpPr>
        <p:spPr>
          <a:xfrm>
            <a:off x="4618286" y="3166020"/>
            <a:ext cx="4086225" cy="1003473"/>
          </a:xfrm>
          <a:prstGeom prst="rect">
            <a:avLst/>
          </a:prstGeom>
          <a:solidFill>
            <a:srgbClr val="F8F9F6"/>
          </a:solidFill>
          <a:ln w="4763">
            <a:solidFill>
              <a:srgbClr val="C7CE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4805288" y="3359348"/>
            <a:ext cx="186364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137" dirty="0">
                <a:solidFill>
                  <a:srgbClr val="7781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FIRST RESPONDER VIEW</a:t>
            </a:r>
            <a:endParaRPr lang="en-US" sz="680" dirty="0"/>
          </a:p>
        </p:txBody>
      </p:sp>
      <p:sp>
        <p:nvSpPr>
          <p:cNvPr id="39" name="Text 36"/>
          <p:cNvSpPr/>
          <p:nvPr/>
        </p:nvSpPr>
        <p:spPr>
          <a:xfrm>
            <a:off x="4805288" y="3543672"/>
            <a:ext cx="36187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89"/>
              </a:spcBef>
              <a:buNone/>
            </a:pPr>
            <a:r>
              <a:rPr lang="en-US" sz="1510" b="1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Video + concentration + exact location</a:t>
            </a:r>
            <a:endParaRPr lang="en-US" sz="1510" dirty="0"/>
          </a:p>
        </p:txBody>
      </p:sp>
      <p:sp>
        <p:nvSpPr>
          <p:cNvPr id="40" name="Text 37"/>
          <p:cNvSpPr/>
          <p:nvPr/>
        </p:nvSpPr>
        <p:spPr>
          <a:xfrm>
            <a:off x="4805288" y="3809777"/>
            <a:ext cx="4677177" cy="307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60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Turn an abstract alert into a scene responders can act</a:t>
            </a:r>
            <a:endParaRPr lang="en-US" sz="860" dirty="0"/>
          </a:p>
          <a:p>
            <a:pPr marL="0" indent="0" algn="l">
              <a:lnSpc>
                <a:spcPts val="1296"/>
              </a:lnSpc>
              <a:buNone/>
            </a:pPr>
            <a:r>
              <a:rPr lang="en-US" sz="860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on.</a:t>
            </a:r>
            <a:endParaRPr lang="en-US" sz="860" dirty="0"/>
          </a:p>
        </p:txBody>
      </p:sp>
      <p:sp>
        <p:nvSpPr>
          <p:cNvPr id="41" name="Text 38"/>
          <p:cNvSpPr/>
          <p:nvPr/>
        </p:nvSpPr>
        <p:spPr>
          <a:xfrm>
            <a:off x="438894" y="4829398"/>
            <a:ext cx="1975277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kern="0" spc="117" dirty="0">
                <a:solidFill>
                  <a:srgbClr val="6872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CUSTODIA |PROJECT CALL</a:t>
            </a:r>
            <a:endParaRPr lang="en-US" sz="650" dirty="0"/>
          </a:p>
        </p:txBody>
      </p:sp>
      <p:sp>
        <p:nvSpPr>
          <p:cNvPr id="42" name="Text 39"/>
          <p:cNvSpPr/>
          <p:nvPr/>
        </p:nvSpPr>
        <p:spPr>
          <a:xfrm>
            <a:off x="6716464" y="4829398"/>
            <a:ext cx="2642384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kern="0" spc="117" dirty="0">
                <a:solidFill>
                  <a:srgbClr val="6872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PRESENTATION |OPERATIONS BRIEF</a:t>
            </a:r>
            <a:endParaRPr lang="en-US" sz="650" dirty="0"/>
          </a:p>
        </p:txBody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150" y="195783"/>
            <a:ext cx="8267700" cy="271463"/>
          </a:xfrm>
          <a:prstGeom prst="rect">
            <a:avLst/>
          </a:prstGeom>
        </p:spPr>
      </p:pic>
      <p:pic>
        <p:nvPicPr>
          <p:cNvPr id="4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150" y="4728158"/>
            <a:ext cx="826770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3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38150" y="195783"/>
            <a:ext cx="8267700" cy="271463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38224" y="194742"/>
            <a:ext cx="176212" cy="176212"/>
          </a:xfrm>
          <a:prstGeom prst="rect">
            <a:avLst/>
          </a:prstGeom>
          <a:solidFill>
            <a:srgbClr val="0D8E83"/>
          </a:solidFill>
          <a:ln w="4763">
            <a:solidFill>
              <a:srgbClr val="0D8E8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76" y="226293"/>
            <a:ext cx="113109" cy="1131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5148" y="215578"/>
            <a:ext cx="87584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166" dirty="0">
                <a:solidFill>
                  <a:srgbClr val="171B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CUSTODIA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1426294" y="222498"/>
            <a:ext cx="14459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kern="0" spc="150" dirty="0">
                <a:solidFill>
                  <a:srgbClr val="7781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SAFETY HUB | 01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7485757" y="222498"/>
            <a:ext cx="164230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123" dirty="0">
                <a:solidFill>
                  <a:srgbClr val="6872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|SYSTEM DESIGN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438894" y="724793"/>
            <a:ext cx="260310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189" dirty="0">
                <a:solidFill>
                  <a:srgbClr val="0D8E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HARDWARE &amp; COMMUNICATION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438894" y="873696"/>
            <a:ext cx="5954122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27"/>
              </a:spcBef>
              <a:buNone/>
            </a:pPr>
            <a:r>
              <a:rPr lang="en-US" sz="2810" b="1" kern="0" spc="-168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 practical prototype with a clear path to</a:t>
            </a:r>
            <a:endParaRPr lang="en-US" sz="2810" dirty="0"/>
          </a:p>
        </p:txBody>
      </p:sp>
      <p:sp>
        <p:nvSpPr>
          <p:cNvPr id="11" name="Text 8"/>
          <p:cNvSpPr/>
          <p:nvPr/>
        </p:nvSpPr>
        <p:spPr>
          <a:xfrm>
            <a:off x="438894" y="1194569"/>
            <a:ext cx="1870219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27"/>
              </a:spcBef>
              <a:buNone/>
            </a:pPr>
            <a:r>
              <a:rPr lang="en-US" sz="2810" b="1" kern="0" spc="-168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deployment.</a:t>
            </a:r>
            <a:endParaRPr lang="en-US" sz="2810" dirty="0"/>
          </a:p>
        </p:txBody>
      </p:sp>
      <p:sp>
        <p:nvSpPr>
          <p:cNvPr id="12" name="Shape 9"/>
          <p:cNvSpPr/>
          <p:nvPr/>
        </p:nvSpPr>
        <p:spPr>
          <a:xfrm>
            <a:off x="438373" y="1779203"/>
            <a:ext cx="3786188" cy="2466975"/>
          </a:xfrm>
          <a:prstGeom prst="rect">
            <a:avLst/>
          </a:prstGeom>
          <a:solidFill>
            <a:srgbClr val="24445D"/>
          </a:solidFill>
          <a:ln w="4763">
            <a:solidFill>
              <a:srgbClr val="2949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26492" y="1970633"/>
            <a:ext cx="123135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137" dirty="0">
                <a:solidFill>
                  <a:srgbClr val="9CABB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HARDWARE TIER</a:t>
            </a:r>
            <a:endParaRPr lang="en-US" sz="680" dirty="0"/>
          </a:p>
        </p:txBody>
      </p:sp>
      <p:sp>
        <p:nvSpPr>
          <p:cNvPr id="14" name="Shape 11"/>
          <p:cNvSpPr/>
          <p:nvPr/>
        </p:nvSpPr>
        <p:spPr>
          <a:xfrm>
            <a:off x="626492" y="2214525"/>
            <a:ext cx="3409950" cy="504825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26492" y="2290316"/>
            <a:ext cx="1615507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132" dirty="0">
                <a:solidFill>
                  <a:srgbClr val="7CCD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MICROCONTROLLER</a:t>
            </a:r>
            <a:endParaRPr lang="en-US" sz="830" dirty="0"/>
          </a:p>
        </p:txBody>
      </p:sp>
      <p:sp>
        <p:nvSpPr>
          <p:cNvPr id="16" name="Text 13"/>
          <p:cNvSpPr/>
          <p:nvPr/>
        </p:nvSpPr>
        <p:spPr>
          <a:xfrm>
            <a:off x="626492" y="2498601"/>
            <a:ext cx="347114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260" b="1" dirty="0">
                <a:solidFill>
                  <a:srgbClr val="F4F5F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Arduino UNO prototype → ESP32 deployment</a:t>
            </a:r>
            <a:endParaRPr lang="en-US" sz="1260" dirty="0"/>
          </a:p>
        </p:txBody>
      </p:sp>
      <p:sp>
        <p:nvSpPr>
          <p:cNvPr id="17" name="Shape 14"/>
          <p:cNvSpPr/>
          <p:nvPr/>
        </p:nvSpPr>
        <p:spPr>
          <a:xfrm>
            <a:off x="626492" y="2796815"/>
            <a:ext cx="3409950" cy="504825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26492" y="2872606"/>
            <a:ext cx="784428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132" dirty="0">
                <a:solidFill>
                  <a:srgbClr val="7CCD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SENSORS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626492" y="3080891"/>
            <a:ext cx="321091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260" b="1" dirty="0">
                <a:solidFill>
                  <a:srgbClr val="F4F5F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MQ-2 / MQ-135 gas sensor + flame sensor</a:t>
            </a:r>
            <a:endParaRPr lang="en-US" sz="1260" dirty="0"/>
          </a:p>
        </p:txBody>
      </p:sp>
      <p:sp>
        <p:nvSpPr>
          <p:cNvPr id="20" name="Shape 17"/>
          <p:cNvSpPr/>
          <p:nvPr/>
        </p:nvSpPr>
        <p:spPr>
          <a:xfrm>
            <a:off x="626492" y="3379105"/>
            <a:ext cx="3409950" cy="504825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26492" y="3454896"/>
            <a:ext cx="992222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132" dirty="0">
                <a:solidFill>
                  <a:srgbClr val="7CCD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ACTUATORS</a:t>
            </a:r>
            <a:endParaRPr lang="en-US" sz="830" dirty="0"/>
          </a:p>
        </p:txBody>
      </p:sp>
      <p:sp>
        <p:nvSpPr>
          <p:cNvPr id="22" name="Text 19"/>
          <p:cNvSpPr/>
          <p:nvPr/>
        </p:nvSpPr>
        <p:spPr>
          <a:xfrm>
            <a:off x="626492" y="3663181"/>
            <a:ext cx="264354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260" b="1" dirty="0">
                <a:solidFill>
                  <a:srgbClr val="F4F5F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Buzzer, status LEDs, relay module</a:t>
            </a:r>
            <a:endParaRPr lang="en-US" sz="1260" dirty="0"/>
          </a:p>
        </p:txBody>
      </p:sp>
      <p:sp>
        <p:nvSpPr>
          <p:cNvPr id="23" name="Shape 20"/>
          <p:cNvSpPr/>
          <p:nvPr/>
        </p:nvSpPr>
        <p:spPr>
          <a:xfrm>
            <a:off x="626492" y="3961395"/>
            <a:ext cx="3409950" cy="504825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626492" y="4037186"/>
            <a:ext cx="151161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132" dirty="0">
                <a:solidFill>
                  <a:srgbClr val="7CCD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PROTOTYPE LINK</a:t>
            </a:r>
            <a:endParaRPr lang="en-US" sz="830" dirty="0"/>
          </a:p>
        </p:txBody>
      </p:sp>
      <p:sp>
        <p:nvSpPr>
          <p:cNvPr id="25" name="Text 22"/>
          <p:cNvSpPr/>
          <p:nvPr/>
        </p:nvSpPr>
        <p:spPr>
          <a:xfrm>
            <a:off x="626492" y="4245471"/>
            <a:ext cx="386912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260" b="1" dirty="0">
                <a:solidFill>
                  <a:srgbClr val="F4F5F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HC-05 Bluetooth for local / short-range telemetry</a:t>
            </a:r>
            <a:endParaRPr lang="en-US" sz="1260" dirty="0"/>
          </a:p>
        </p:txBody>
      </p:sp>
      <p:sp>
        <p:nvSpPr>
          <p:cNvPr id="26" name="Shape 23"/>
          <p:cNvSpPr/>
          <p:nvPr/>
        </p:nvSpPr>
        <p:spPr>
          <a:xfrm>
            <a:off x="4352069" y="1779203"/>
            <a:ext cx="4352925" cy="2466975"/>
          </a:xfrm>
          <a:prstGeom prst="rect">
            <a:avLst/>
          </a:prstGeom>
          <a:solidFill>
            <a:srgbClr val="F8F9F6"/>
          </a:solidFill>
          <a:ln w="4763">
            <a:solidFill>
              <a:srgbClr val="C7CE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4539630" y="1970633"/>
            <a:ext cx="168303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137" dirty="0">
                <a:solidFill>
                  <a:srgbClr val="7781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COMMUNICATION TIER</a:t>
            </a:r>
            <a:endParaRPr lang="en-US" sz="680" dirty="0"/>
          </a:p>
        </p:txBody>
      </p:sp>
      <p:sp>
        <p:nvSpPr>
          <p:cNvPr id="28" name="Text 25"/>
          <p:cNvSpPr/>
          <p:nvPr/>
        </p:nvSpPr>
        <p:spPr>
          <a:xfrm>
            <a:off x="4539630" y="2176239"/>
            <a:ext cx="3322067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932"/>
              </a:spcBef>
              <a:buNone/>
            </a:pPr>
            <a:r>
              <a:rPr lang="en-US" sz="2020" b="1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Prototype tier → Wi-Fi tier</a:t>
            </a:r>
            <a:endParaRPr lang="en-US" sz="2020" dirty="0"/>
          </a:p>
        </p:txBody>
      </p:sp>
      <p:sp>
        <p:nvSpPr>
          <p:cNvPr id="29" name="Text 26"/>
          <p:cNvSpPr/>
          <p:nvPr/>
        </p:nvSpPr>
        <p:spPr>
          <a:xfrm>
            <a:off x="4539630" y="2515270"/>
            <a:ext cx="388208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1040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Sensor nodes push JSON telemetry over</a:t>
            </a:r>
            <a:endParaRPr lang="en-US" sz="1040" dirty="0"/>
          </a:p>
        </p:txBody>
      </p:sp>
      <p:sp>
        <p:nvSpPr>
          <p:cNvPr id="30" name="Text 27"/>
          <p:cNvSpPr/>
          <p:nvPr/>
        </p:nvSpPr>
        <p:spPr>
          <a:xfrm>
            <a:off x="4539630" y="2667744"/>
            <a:ext cx="3985401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1040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MQTT / REST API, or serial / Bluetooth</a:t>
            </a:r>
            <a:endParaRPr lang="en-US" sz="1040" dirty="0"/>
          </a:p>
        </p:txBody>
      </p:sp>
      <p:sp>
        <p:nvSpPr>
          <p:cNvPr id="31" name="Text 28"/>
          <p:cNvSpPr/>
          <p:nvPr/>
        </p:nvSpPr>
        <p:spPr>
          <a:xfrm>
            <a:off x="4539630" y="2820219"/>
            <a:ext cx="2434783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1040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 the prototype build.</a:t>
            </a:r>
            <a:endParaRPr lang="en-US" sz="1040" dirty="0"/>
          </a:p>
        </p:txBody>
      </p:sp>
      <p:sp>
        <p:nvSpPr>
          <p:cNvPr id="32" name="Shape 29"/>
          <p:cNvSpPr/>
          <p:nvPr/>
        </p:nvSpPr>
        <p:spPr>
          <a:xfrm>
            <a:off x="4538662" y="3243672"/>
            <a:ext cx="1190625" cy="823913"/>
          </a:xfrm>
          <a:prstGeom prst="rect">
            <a:avLst/>
          </a:prstGeom>
          <a:solidFill>
            <a:srgbClr val="E4F2EE"/>
          </a:solidFill>
          <a:ln w="9525">
            <a:solidFill>
              <a:srgbClr val="17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4658841" y="3368129"/>
            <a:ext cx="9395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kern="0" spc="119" dirty="0">
                <a:solidFill>
                  <a:srgbClr val="0D8E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ZONE NODE</a:t>
            </a:r>
            <a:endParaRPr lang="en-US" sz="790" dirty="0"/>
          </a:p>
        </p:txBody>
      </p:sp>
      <p:sp>
        <p:nvSpPr>
          <p:cNvPr id="34" name="Text 31"/>
          <p:cNvSpPr/>
          <p:nvPr/>
        </p:nvSpPr>
        <p:spPr>
          <a:xfrm>
            <a:off x="4658841" y="3595018"/>
            <a:ext cx="52381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SENSE</a:t>
            </a:r>
            <a:endParaRPr lang="en-US" sz="1220" dirty="0"/>
          </a:p>
        </p:txBody>
      </p:sp>
      <p:sp>
        <p:nvSpPr>
          <p:cNvPr id="35" name="Shape 32"/>
          <p:cNvSpPr/>
          <p:nvPr/>
        </p:nvSpPr>
        <p:spPr>
          <a:xfrm>
            <a:off x="4659288" y="3871243"/>
            <a:ext cx="76200" cy="76200"/>
          </a:xfrm>
          <a:prstGeom prst="ellipse">
            <a:avLst/>
          </a:prstGeom>
          <a:solidFill>
            <a:srgbClr val="E56E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3"/>
          <p:cNvSpPr/>
          <p:nvPr/>
        </p:nvSpPr>
        <p:spPr>
          <a:xfrm>
            <a:off x="4800377" y="3871243"/>
            <a:ext cx="76200" cy="76200"/>
          </a:xfrm>
          <a:prstGeom prst="ellipse">
            <a:avLst/>
          </a:prstGeom>
          <a:solidFill>
            <a:srgbClr val="EFC66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4"/>
          <p:cNvSpPr/>
          <p:nvPr/>
        </p:nvSpPr>
        <p:spPr>
          <a:xfrm>
            <a:off x="4941466" y="3871243"/>
            <a:ext cx="76200" cy="76200"/>
          </a:xfrm>
          <a:prstGeom prst="ellipse">
            <a:avLst/>
          </a:prstGeom>
          <a:solidFill>
            <a:srgbClr val="0D8E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5838006" y="3523804"/>
            <a:ext cx="214640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dirty="0">
                <a:solidFill>
                  <a:srgbClr val="0D8E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580" dirty="0"/>
          </a:p>
        </p:txBody>
      </p:sp>
      <p:sp>
        <p:nvSpPr>
          <p:cNvPr id="39" name="Shape 36"/>
          <p:cNvSpPr/>
          <p:nvPr/>
        </p:nvSpPr>
        <p:spPr>
          <a:xfrm>
            <a:off x="6067871" y="3243672"/>
            <a:ext cx="1190625" cy="938919"/>
          </a:xfrm>
          <a:prstGeom prst="rect">
            <a:avLst/>
          </a:prstGeom>
          <a:solidFill>
            <a:srgbClr val="24445D"/>
          </a:solidFill>
          <a:ln w="4763">
            <a:solidFill>
              <a:srgbClr val="2949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6183288" y="3363367"/>
            <a:ext cx="74341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kern="0" spc="119" dirty="0">
                <a:solidFill>
                  <a:srgbClr val="7CCD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PAYLOAD</a:t>
            </a:r>
            <a:endParaRPr lang="en-US" sz="790" dirty="0"/>
          </a:p>
        </p:txBody>
      </p:sp>
      <p:sp>
        <p:nvSpPr>
          <p:cNvPr id="41" name="Text 38"/>
          <p:cNvSpPr/>
          <p:nvPr/>
        </p:nvSpPr>
        <p:spPr>
          <a:xfrm>
            <a:off x="6183288" y="3528566"/>
            <a:ext cx="101785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JSON / MQTT</a:t>
            </a:r>
            <a:endParaRPr lang="en-US" sz="1220" dirty="0"/>
          </a:p>
        </p:txBody>
      </p:sp>
      <p:sp>
        <p:nvSpPr>
          <p:cNvPr id="42" name="Text 39"/>
          <p:cNvSpPr/>
          <p:nvPr/>
        </p:nvSpPr>
        <p:spPr>
          <a:xfrm>
            <a:off x="6183288" y="3747418"/>
            <a:ext cx="762952" cy="435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dirty="0">
                <a:solidFill>
                  <a:srgbClr val="B2BEC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zone_id +</a:t>
            </a:r>
            <a:endParaRPr lang="en-US" sz="790" dirty="0"/>
          </a:p>
          <a:p>
            <a:pPr marL="0" indent="0" algn="l">
              <a:lnSpc>
                <a:spcPts val="1188"/>
              </a:lnSpc>
              <a:buNone/>
            </a:pPr>
            <a:r>
              <a:rPr lang="en-US" sz="790" dirty="0">
                <a:solidFill>
                  <a:srgbClr val="B2BEC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reading +</a:t>
            </a:r>
            <a:endParaRPr lang="en-US" sz="790" dirty="0"/>
          </a:p>
          <a:p>
            <a:pPr marL="0" indent="0" algn="l">
              <a:lnSpc>
                <a:spcPts val="1188"/>
              </a:lnSpc>
              <a:buNone/>
            </a:pPr>
            <a:r>
              <a:rPr lang="en-US" sz="790" dirty="0">
                <a:solidFill>
                  <a:srgbClr val="B2BEC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timestamp</a:t>
            </a:r>
            <a:endParaRPr lang="en-US" sz="790" dirty="0"/>
          </a:p>
        </p:txBody>
      </p:sp>
      <p:sp>
        <p:nvSpPr>
          <p:cNvPr id="43" name="Text 40"/>
          <p:cNvSpPr/>
          <p:nvPr/>
        </p:nvSpPr>
        <p:spPr>
          <a:xfrm>
            <a:off x="4539630" y="4374505"/>
            <a:ext cx="496584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0"/>
              </a:spcBef>
              <a:buNone/>
            </a:pPr>
            <a:r>
              <a:rPr lang="en-US" sz="970" b="1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ZONE NODE → COMMUNICATION → SHARED OPERATIONAL VIEW</a:t>
            </a:r>
            <a:endParaRPr lang="en-US" sz="970" dirty="0"/>
          </a:p>
        </p:txBody>
      </p:sp>
      <p:sp>
        <p:nvSpPr>
          <p:cNvPr id="44" name="Text 41"/>
          <p:cNvSpPr/>
          <p:nvPr/>
        </p:nvSpPr>
        <p:spPr>
          <a:xfrm>
            <a:off x="438894" y="4829398"/>
            <a:ext cx="1975277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kern="0" spc="117" dirty="0">
                <a:solidFill>
                  <a:srgbClr val="6872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CUSTODIA |PROJECT CALL</a:t>
            </a:r>
            <a:endParaRPr lang="en-US" sz="650" dirty="0"/>
          </a:p>
        </p:txBody>
      </p:sp>
      <p:sp>
        <p:nvSpPr>
          <p:cNvPr id="45" name="Text 42"/>
          <p:cNvSpPr/>
          <p:nvPr/>
        </p:nvSpPr>
        <p:spPr>
          <a:xfrm>
            <a:off x="6716464" y="4829398"/>
            <a:ext cx="2642384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kern="0" spc="117" dirty="0">
                <a:solidFill>
                  <a:srgbClr val="6872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PRESENTATION |OPERATIONS BRIEF</a:t>
            </a:r>
            <a:endParaRPr lang="en-US" sz="650" dirty="0"/>
          </a:p>
        </p:txBody>
      </p:sp>
      <p:pic>
        <p:nvPicPr>
          <p:cNvPr id="4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150" y="195783"/>
            <a:ext cx="8267700" cy="271463"/>
          </a:xfrm>
          <a:prstGeom prst="rect">
            <a:avLst/>
          </a:prstGeom>
        </p:spPr>
      </p:pic>
      <p:pic>
        <p:nvPicPr>
          <p:cNvPr id="4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6492" y="2214525"/>
            <a:ext cx="3409950" cy="504825"/>
          </a:xfrm>
          <a:prstGeom prst="rect">
            <a:avLst/>
          </a:prstGeom>
        </p:spPr>
      </p:pic>
      <p:pic>
        <p:nvPicPr>
          <p:cNvPr id="4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492" y="2796815"/>
            <a:ext cx="3409950" cy="504825"/>
          </a:xfrm>
          <a:prstGeom prst="rect">
            <a:avLst/>
          </a:prstGeom>
        </p:spPr>
      </p:pic>
      <p:pic>
        <p:nvPicPr>
          <p:cNvPr id="4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6492" y="3379105"/>
            <a:ext cx="3409950" cy="504825"/>
          </a:xfrm>
          <a:prstGeom prst="rect">
            <a:avLst/>
          </a:prstGeom>
        </p:spPr>
      </p:pic>
      <p:pic>
        <p:nvPicPr>
          <p:cNvPr id="5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6492" y="3961395"/>
            <a:ext cx="3409950" cy="504825"/>
          </a:xfrm>
          <a:prstGeom prst="rect">
            <a:avLst/>
          </a:prstGeom>
        </p:spPr>
      </p:pic>
      <p:pic>
        <p:nvPicPr>
          <p:cNvPr id="5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40188" y="4273339"/>
            <a:ext cx="3976687" cy="276225"/>
          </a:xfrm>
          <a:prstGeom prst="rect">
            <a:avLst/>
          </a:prstGeom>
        </p:spPr>
      </p:pic>
      <p:pic>
        <p:nvPicPr>
          <p:cNvPr id="5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8150" y="4728158"/>
            <a:ext cx="826770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3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38150" y="195783"/>
            <a:ext cx="8267700" cy="271463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38224" y="194742"/>
            <a:ext cx="176212" cy="176212"/>
          </a:xfrm>
          <a:prstGeom prst="rect">
            <a:avLst/>
          </a:prstGeom>
          <a:solidFill>
            <a:srgbClr val="0D8E83"/>
          </a:solidFill>
          <a:ln w="4763">
            <a:solidFill>
              <a:srgbClr val="0D8E8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76" y="226293"/>
            <a:ext cx="113109" cy="1131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5148" y="215578"/>
            <a:ext cx="87584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166" dirty="0">
                <a:solidFill>
                  <a:srgbClr val="171B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CUSTODIA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1426294" y="222498"/>
            <a:ext cx="14459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kern="0" spc="150" dirty="0">
                <a:solidFill>
                  <a:srgbClr val="7781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SAFETY HUB | 01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7485757" y="222498"/>
            <a:ext cx="164230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123" dirty="0">
                <a:solidFill>
                  <a:srgbClr val="6872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|SYSTEM DESIGN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438894" y="724793"/>
            <a:ext cx="355781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189" dirty="0">
                <a:solidFill>
                  <a:srgbClr val="0D8E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DATABASE LAYER, DESIGN MODEL &amp; UI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438894" y="878458"/>
            <a:ext cx="6048539" cy="404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27"/>
              </a:spcBef>
              <a:buNone/>
            </a:pPr>
            <a:r>
              <a:rPr lang="en-US" sz="2660" b="1" kern="0" spc="-160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The dashboard is a live model of the facility.</a:t>
            </a:r>
            <a:endParaRPr lang="en-US" sz="2660" dirty="0"/>
          </a:p>
        </p:txBody>
      </p:sp>
      <p:sp>
        <p:nvSpPr>
          <p:cNvPr id="11" name="Text 8"/>
          <p:cNvSpPr/>
          <p:nvPr/>
        </p:nvSpPr>
        <p:spPr>
          <a:xfrm>
            <a:off x="6693471" y="796305"/>
            <a:ext cx="246312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Firebase / Node.js stores</a:t>
            </a:r>
            <a:endParaRPr lang="en-US" sz="970" dirty="0"/>
          </a:p>
        </p:txBody>
      </p:sp>
      <p:sp>
        <p:nvSpPr>
          <p:cNvPr id="12" name="Text 9"/>
          <p:cNvSpPr/>
          <p:nvPr/>
        </p:nvSpPr>
        <p:spPr>
          <a:xfrm>
            <a:off x="6693471" y="939478"/>
            <a:ext cx="217436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live state, historical</a:t>
            </a:r>
            <a:endParaRPr lang="en-US" sz="970" dirty="0"/>
          </a:p>
        </p:txBody>
      </p:sp>
      <p:sp>
        <p:nvSpPr>
          <p:cNvPr id="13" name="Text 10"/>
          <p:cNvSpPr/>
          <p:nvPr/>
        </p:nvSpPr>
        <p:spPr>
          <a:xfrm>
            <a:off x="6693471" y="1082650"/>
            <a:ext cx="227061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logs, and alert events.</a:t>
            </a:r>
            <a:endParaRPr lang="en-US" sz="970" dirty="0"/>
          </a:p>
        </p:txBody>
      </p:sp>
      <p:sp>
        <p:nvSpPr>
          <p:cNvPr id="14" name="Shape 11"/>
          <p:cNvSpPr/>
          <p:nvPr/>
        </p:nvSpPr>
        <p:spPr>
          <a:xfrm>
            <a:off x="438076" y="1441475"/>
            <a:ext cx="3186113" cy="2519362"/>
          </a:xfrm>
          <a:prstGeom prst="rect">
            <a:avLst/>
          </a:prstGeom>
          <a:solidFill>
            <a:srgbClr val="24445D"/>
          </a:solidFill>
          <a:ln w="4763">
            <a:solidFill>
              <a:srgbClr val="2949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26492" y="1633389"/>
            <a:ext cx="186364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137" dirty="0">
                <a:solidFill>
                  <a:srgbClr val="9CABB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COLLECTIONS / TABLES</a:t>
            </a:r>
            <a:endParaRPr lang="en-US" sz="680" dirty="0"/>
          </a:p>
        </p:txBody>
      </p:sp>
      <p:sp>
        <p:nvSpPr>
          <p:cNvPr id="16" name="Shape 13"/>
          <p:cNvSpPr/>
          <p:nvPr/>
        </p:nvSpPr>
        <p:spPr>
          <a:xfrm>
            <a:off x="626194" y="1871737"/>
            <a:ext cx="2809875" cy="471488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26492" y="1891010"/>
            <a:ext cx="50543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4F5F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zones</a:t>
            </a:r>
            <a:endParaRPr lang="en-US" sz="1260" dirty="0"/>
          </a:p>
        </p:txBody>
      </p:sp>
      <p:sp>
        <p:nvSpPr>
          <p:cNvPr id="18" name="Text 15"/>
          <p:cNvSpPr/>
          <p:nvPr/>
        </p:nvSpPr>
        <p:spPr>
          <a:xfrm>
            <a:off x="626492" y="2121471"/>
            <a:ext cx="193938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dirty="0">
                <a:solidFill>
                  <a:srgbClr val="B2BEC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building, room, status</a:t>
            </a:r>
            <a:endParaRPr lang="en-US" sz="860" dirty="0"/>
          </a:p>
        </p:txBody>
      </p:sp>
      <p:sp>
        <p:nvSpPr>
          <p:cNvPr id="19" name="Shape 16"/>
          <p:cNvSpPr/>
          <p:nvPr/>
        </p:nvSpPr>
        <p:spPr>
          <a:xfrm>
            <a:off x="626194" y="2404467"/>
            <a:ext cx="2809875" cy="471488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626492" y="2423740"/>
            <a:ext cx="1348219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4F5F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sensor_readings</a:t>
            </a:r>
            <a:endParaRPr lang="en-US" sz="1260" dirty="0"/>
          </a:p>
        </p:txBody>
      </p:sp>
      <p:sp>
        <p:nvSpPr>
          <p:cNvPr id="21" name="Text 18"/>
          <p:cNvSpPr/>
          <p:nvPr/>
        </p:nvSpPr>
        <p:spPr>
          <a:xfrm>
            <a:off x="626492" y="2654201"/>
            <a:ext cx="176825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dirty="0">
                <a:solidFill>
                  <a:srgbClr val="B2BEC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timestamped readings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626194" y="2937197"/>
            <a:ext cx="2809875" cy="471488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626492" y="2956471"/>
            <a:ext cx="511046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4F5F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alerts</a:t>
            </a:r>
            <a:endParaRPr lang="en-US" sz="1260" dirty="0"/>
          </a:p>
        </p:txBody>
      </p:sp>
      <p:sp>
        <p:nvSpPr>
          <p:cNvPr id="24" name="Text 21"/>
          <p:cNvSpPr/>
          <p:nvPr/>
        </p:nvSpPr>
        <p:spPr>
          <a:xfrm>
            <a:off x="626492" y="3186931"/>
            <a:ext cx="270942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dirty="0">
                <a:solidFill>
                  <a:srgbClr val="B2BEC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severity, zone, resolved status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626492" y="3489201"/>
            <a:ext cx="655476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4F5F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devices</a:t>
            </a:r>
            <a:endParaRPr lang="en-US" sz="1260" dirty="0"/>
          </a:p>
        </p:txBody>
      </p:sp>
      <p:sp>
        <p:nvSpPr>
          <p:cNvPr id="26" name="Text 23"/>
          <p:cNvSpPr/>
          <p:nvPr/>
        </p:nvSpPr>
        <p:spPr>
          <a:xfrm>
            <a:off x="626492" y="3719661"/>
            <a:ext cx="23671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dirty="0">
                <a:solidFill>
                  <a:srgbClr val="B2BEC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node ID, mapping, last-seen</a:t>
            </a:r>
            <a:endParaRPr lang="en-US" sz="860" dirty="0"/>
          </a:p>
        </p:txBody>
      </p:sp>
      <p:sp>
        <p:nvSpPr>
          <p:cNvPr id="27" name="Shape 24"/>
          <p:cNvSpPr/>
          <p:nvPr/>
        </p:nvSpPr>
        <p:spPr>
          <a:xfrm>
            <a:off x="3751734" y="1441475"/>
            <a:ext cx="4953000" cy="2519362"/>
          </a:xfrm>
          <a:prstGeom prst="rect">
            <a:avLst/>
          </a:prstGeom>
          <a:solidFill>
            <a:srgbClr val="F8F9F6"/>
          </a:solidFill>
          <a:ln w="4763">
            <a:solidFill>
              <a:srgbClr val="C7CE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3939853" y="1628887"/>
            <a:ext cx="4576763" cy="290513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3938960" y="1647676"/>
            <a:ext cx="1651203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Responsive dashboard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7711492" y="1645444"/>
            <a:ext cx="804862" cy="185738"/>
          </a:xfrm>
          <a:prstGeom prst="rect">
            <a:avLst/>
          </a:prstGeom>
          <a:solidFill>
            <a:srgbClr val="C9E7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7792566" y="1677963"/>
            <a:ext cx="89267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96" dirty="0">
                <a:solidFill>
                  <a:srgbClr val="135B5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LIVE STATE</a:t>
            </a:r>
            <a:endParaRPr lang="en-US" sz="680" dirty="0"/>
          </a:p>
        </p:txBody>
      </p:sp>
      <p:sp>
        <p:nvSpPr>
          <p:cNvPr id="32" name="Text 29"/>
          <p:cNvSpPr/>
          <p:nvPr/>
        </p:nvSpPr>
        <p:spPr>
          <a:xfrm>
            <a:off x="3938960" y="2037531"/>
            <a:ext cx="240556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137" dirty="0">
                <a:solidFill>
                  <a:srgbClr val="7781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MULTI-BUILDING STATUS GRID</a:t>
            </a:r>
            <a:endParaRPr lang="en-US" sz="680" dirty="0"/>
          </a:p>
        </p:txBody>
      </p:sp>
      <p:sp>
        <p:nvSpPr>
          <p:cNvPr id="33" name="Shape 30"/>
          <p:cNvSpPr/>
          <p:nvPr/>
        </p:nvSpPr>
        <p:spPr>
          <a:xfrm>
            <a:off x="3939071" y="2230041"/>
            <a:ext cx="1033462" cy="581025"/>
          </a:xfrm>
          <a:prstGeom prst="rect">
            <a:avLst/>
          </a:prstGeom>
          <a:solidFill>
            <a:srgbClr val="E4F2EE"/>
          </a:solidFill>
          <a:ln w="4763">
            <a:solidFill>
              <a:srgbClr val="C7CE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4035103" y="2330723"/>
            <a:ext cx="44923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North</a:t>
            </a:r>
            <a:endParaRPr lang="en-US" sz="790" dirty="0"/>
          </a:p>
        </p:txBody>
      </p:sp>
      <p:sp>
        <p:nvSpPr>
          <p:cNvPr id="35" name="Text 32"/>
          <p:cNvSpPr/>
          <p:nvPr/>
        </p:nvSpPr>
        <p:spPr>
          <a:xfrm>
            <a:off x="4035103" y="2521595"/>
            <a:ext cx="5491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03"/>
              </a:spcBef>
              <a:buNone/>
            </a:pPr>
            <a:r>
              <a:rPr lang="en-US" sz="1120" b="1" dirty="0">
                <a:solidFill>
                  <a:srgbClr val="0D8E8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Normal</a:t>
            </a:r>
            <a:endParaRPr lang="en-US" sz="1120" dirty="0"/>
          </a:p>
        </p:txBody>
      </p:sp>
      <p:sp>
        <p:nvSpPr>
          <p:cNvPr id="36" name="Shape 33"/>
          <p:cNvSpPr/>
          <p:nvPr/>
        </p:nvSpPr>
        <p:spPr>
          <a:xfrm>
            <a:off x="5036753" y="2230041"/>
            <a:ext cx="1033462" cy="581025"/>
          </a:xfrm>
          <a:prstGeom prst="rect">
            <a:avLst/>
          </a:prstGeom>
          <a:solidFill>
            <a:srgbClr val="FFF5DC"/>
          </a:solidFill>
          <a:ln w="4763">
            <a:solidFill>
              <a:srgbClr val="C7CE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5132784" y="2330723"/>
            <a:ext cx="44923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Lab 2</a:t>
            </a:r>
            <a:endParaRPr lang="en-US" sz="790" dirty="0"/>
          </a:p>
        </p:txBody>
      </p:sp>
      <p:sp>
        <p:nvSpPr>
          <p:cNvPr id="38" name="Text 35"/>
          <p:cNvSpPr/>
          <p:nvPr/>
        </p:nvSpPr>
        <p:spPr>
          <a:xfrm>
            <a:off x="5132784" y="2521595"/>
            <a:ext cx="61881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03"/>
              </a:spcBef>
              <a:buNone/>
            </a:pPr>
            <a:r>
              <a:rPr lang="en-US" sz="1120" b="1" dirty="0">
                <a:solidFill>
                  <a:srgbClr val="AA7C1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Warning</a:t>
            </a:r>
            <a:endParaRPr lang="en-US" sz="1120" dirty="0"/>
          </a:p>
        </p:txBody>
      </p:sp>
      <p:sp>
        <p:nvSpPr>
          <p:cNvPr id="39" name="Shape 36"/>
          <p:cNvSpPr/>
          <p:nvPr/>
        </p:nvSpPr>
        <p:spPr>
          <a:xfrm>
            <a:off x="3939071" y="2875508"/>
            <a:ext cx="1033462" cy="581025"/>
          </a:xfrm>
          <a:prstGeom prst="rect">
            <a:avLst/>
          </a:prstGeom>
          <a:solidFill>
            <a:srgbClr val="FFF0EE"/>
          </a:solidFill>
          <a:ln w="4763">
            <a:solidFill>
              <a:srgbClr val="C7CE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4035103" y="2976190"/>
            <a:ext cx="44923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Bay 4</a:t>
            </a:r>
            <a:endParaRPr lang="en-US" sz="790" dirty="0"/>
          </a:p>
        </p:txBody>
      </p:sp>
      <p:sp>
        <p:nvSpPr>
          <p:cNvPr id="41" name="Text 38"/>
          <p:cNvSpPr/>
          <p:nvPr/>
        </p:nvSpPr>
        <p:spPr>
          <a:xfrm>
            <a:off x="4035103" y="3167063"/>
            <a:ext cx="54935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03"/>
              </a:spcBef>
              <a:buNone/>
            </a:pPr>
            <a:r>
              <a:rPr lang="en-US" sz="1120" b="1" dirty="0">
                <a:solidFill>
                  <a:srgbClr val="BA4D4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Critical</a:t>
            </a:r>
            <a:endParaRPr lang="en-US" sz="1120" dirty="0"/>
          </a:p>
        </p:txBody>
      </p:sp>
      <p:sp>
        <p:nvSpPr>
          <p:cNvPr id="42" name="Shape 39"/>
          <p:cNvSpPr/>
          <p:nvPr/>
        </p:nvSpPr>
        <p:spPr>
          <a:xfrm>
            <a:off x="5036753" y="2875508"/>
            <a:ext cx="1033462" cy="581025"/>
          </a:xfrm>
          <a:prstGeom prst="rect">
            <a:avLst/>
          </a:prstGeom>
          <a:solidFill>
            <a:srgbClr val="E4F2EE"/>
          </a:solidFill>
          <a:ln w="4763">
            <a:solidFill>
              <a:srgbClr val="C7CE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/>
          <p:nvPr/>
        </p:nvSpPr>
        <p:spPr>
          <a:xfrm>
            <a:off x="5132784" y="2976190"/>
            <a:ext cx="44923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South</a:t>
            </a:r>
            <a:endParaRPr lang="en-US" sz="790" dirty="0"/>
          </a:p>
        </p:txBody>
      </p:sp>
      <p:sp>
        <p:nvSpPr>
          <p:cNvPr id="44" name="Text 41"/>
          <p:cNvSpPr/>
          <p:nvPr/>
        </p:nvSpPr>
        <p:spPr>
          <a:xfrm>
            <a:off x="5132784" y="3167063"/>
            <a:ext cx="5491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03"/>
              </a:spcBef>
              <a:buNone/>
            </a:pPr>
            <a:r>
              <a:rPr lang="en-US" sz="1120" b="1" dirty="0">
                <a:solidFill>
                  <a:srgbClr val="0D8E8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Normal</a:t>
            </a:r>
            <a:endParaRPr lang="en-US" sz="1120" dirty="0"/>
          </a:p>
        </p:txBody>
      </p:sp>
      <p:sp>
        <p:nvSpPr>
          <p:cNvPr id="45" name="Text 42"/>
          <p:cNvSpPr/>
          <p:nvPr/>
        </p:nvSpPr>
        <p:spPr>
          <a:xfrm>
            <a:off x="6161708" y="2037531"/>
            <a:ext cx="132171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137" dirty="0">
                <a:solidFill>
                  <a:srgbClr val="7781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ZONE TELEMETRY</a:t>
            </a:r>
            <a:endParaRPr lang="en-US" sz="680" dirty="0"/>
          </a:p>
        </p:txBody>
      </p:sp>
      <p:sp>
        <p:nvSpPr>
          <p:cNvPr id="46" name="Shape 43"/>
          <p:cNvSpPr/>
          <p:nvPr/>
        </p:nvSpPr>
        <p:spPr>
          <a:xfrm>
            <a:off x="6160852" y="2228664"/>
            <a:ext cx="2357438" cy="676275"/>
          </a:xfrm>
          <a:prstGeom prst="rect">
            <a:avLst/>
          </a:prstGeom>
          <a:ln w="4763">
            <a:solidFill>
              <a:srgbClr val="C7CE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4"/>
          <p:cNvSpPr/>
          <p:nvPr/>
        </p:nvSpPr>
        <p:spPr>
          <a:xfrm>
            <a:off x="6257851" y="2330723"/>
            <a:ext cx="91976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171B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Bay 4 / Gas</a:t>
            </a:r>
            <a:endParaRPr lang="en-US" sz="790" dirty="0"/>
          </a:p>
        </p:txBody>
      </p:sp>
      <p:sp>
        <p:nvSpPr>
          <p:cNvPr id="48" name="Text 45"/>
          <p:cNvSpPr/>
          <p:nvPr/>
        </p:nvSpPr>
        <p:spPr>
          <a:xfrm>
            <a:off x="8059341" y="2330723"/>
            <a:ext cx="52768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BA4D4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42 ppm</a:t>
            </a:r>
            <a:endParaRPr lang="en-US" sz="790" dirty="0"/>
          </a:p>
        </p:txBody>
      </p:sp>
      <p:sp>
        <p:nvSpPr>
          <p:cNvPr id="49" name="Shape 46"/>
          <p:cNvSpPr/>
          <p:nvPr/>
        </p:nvSpPr>
        <p:spPr>
          <a:xfrm>
            <a:off x="6258483" y="2553072"/>
            <a:ext cx="2162175" cy="42863"/>
          </a:xfrm>
          <a:prstGeom prst="rect">
            <a:avLst/>
          </a:prstGeom>
          <a:solidFill>
            <a:srgbClr val="E5E8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47"/>
          <p:cNvSpPr/>
          <p:nvPr/>
        </p:nvSpPr>
        <p:spPr>
          <a:xfrm>
            <a:off x="6257999" y="2553072"/>
            <a:ext cx="1557338" cy="42863"/>
          </a:xfrm>
          <a:prstGeom prst="rect">
            <a:avLst/>
          </a:prstGeom>
          <a:solidFill>
            <a:srgbClr val="E56E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8"/>
          <p:cNvSpPr/>
          <p:nvPr/>
        </p:nvSpPr>
        <p:spPr>
          <a:xfrm>
            <a:off x="6257851" y="2661493"/>
            <a:ext cx="272335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790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ESP32-CAM online / last-seen 08:42</a:t>
            </a:r>
            <a:endParaRPr lang="en-US" sz="790" dirty="0"/>
          </a:p>
        </p:txBody>
      </p:sp>
      <p:sp>
        <p:nvSpPr>
          <p:cNvPr id="52" name="Shape 49"/>
          <p:cNvSpPr/>
          <p:nvPr/>
        </p:nvSpPr>
        <p:spPr>
          <a:xfrm>
            <a:off x="6160852" y="2964396"/>
            <a:ext cx="2357438" cy="547687"/>
          </a:xfrm>
          <a:prstGeom prst="rect">
            <a:avLst/>
          </a:prstGeom>
          <a:ln w="4763">
            <a:solidFill>
              <a:srgbClr val="C7CE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0"/>
          <p:cNvSpPr/>
          <p:nvPr/>
        </p:nvSpPr>
        <p:spPr>
          <a:xfrm>
            <a:off x="6257851" y="3066380"/>
            <a:ext cx="154711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171B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Historical log feed</a:t>
            </a:r>
            <a:endParaRPr lang="en-US" sz="790" dirty="0"/>
          </a:p>
        </p:txBody>
      </p:sp>
      <p:sp>
        <p:nvSpPr>
          <p:cNvPr id="54" name="Shape 51"/>
          <p:cNvSpPr/>
          <p:nvPr/>
        </p:nvSpPr>
        <p:spPr>
          <a:xfrm>
            <a:off x="6257553" y="3310830"/>
            <a:ext cx="57150" cy="57150"/>
          </a:xfrm>
          <a:prstGeom prst="ellipse">
            <a:avLst/>
          </a:prstGeom>
          <a:solidFill>
            <a:srgbClr val="E56E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6369248" y="3268712"/>
            <a:ext cx="233127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790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08:42 / critical alert pushed</a:t>
            </a:r>
            <a:endParaRPr lang="en-US" sz="790" dirty="0"/>
          </a:p>
        </p:txBody>
      </p:sp>
      <p:sp>
        <p:nvSpPr>
          <p:cNvPr id="56" name="Text 53"/>
          <p:cNvSpPr/>
          <p:nvPr/>
        </p:nvSpPr>
        <p:spPr>
          <a:xfrm>
            <a:off x="3938960" y="3756645"/>
            <a:ext cx="529939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r>
              <a:rPr lang="en-US" sz="900" b="1" kern="0" spc="108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ONE SHARED PICTURE, EVERY ROOM AND RESPONSE PATH.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438894" y="4829398"/>
            <a:ext cx="1975277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kern="0" spc="117" dirty="0">
                <a:solidFill>
                  <a:srgbClr val="6872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CUSTODIA |PROJECT CALL</a:t>
            </a:r>
            <a:endParaRPr lang="en-US" sz="650" dirty="0"/>
          </a:p>
        </p:txBody>
      </p:sp>
      <p:sp>
        <p:nvSpPr>
          <p:cNvPr id="58" name="Text 55"/>
          <p:cNvSpPr/>
          <p:nvPr/>
        </p:nvSpPr>
        <p:spPr>
          <a:xfrm>
            <a:off x="6716464" y="4829398"/>
            <a:ext cx="2642384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kern="0" spc="117" dirty="0">
                <a:solidFill>
                  <a:srgbClr val="6872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PRESENTATION | OPERATIONS BRIEF</a:t>
            </a:r>
            <a:endParaRPr lang="en-US" sz="650" dirty="0"/>
          </a:p>
        </p:txBody>
      </p:sp>
      <p:pic>
        <p:nvPicPr>
          <p:cNvPr id="5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150" y="195783"/>
            <a:ext cx="8267700" cy="271463"/>
          </a:xfrm>
          <a:prstGeom prst="rect">
            <a:avLst/>
          </a:prstGeom>
        </p:spPr>
      </p:pic>
      <p:pic>
        <p:nvPicPr>
          <p:cNvPr id="6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6194" y="1871737"/>
            <a:ext cx="2809875" cy="471488"/>
          </a:xfrm>
          <a:prstGeom prst="rect">
            <a:avLst/>
          </a:prstGeom>
        </p:spPr>
      </p:pic>
      <p:pic>
        <p:nvPicPr>
          <p:cNvPr id="6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194" y="2404467"/>
            <a:ext cx="2809875" cy="471488"/>
          </a:xfrm>
          <a:prstGeom prst="rect">
            <a:avLst/>
          </a:prstGeom>
        </p:spPr>
      </p:pic>
      <p:pic>
        <p:nvPicPr>
          <p:cNvPr id="6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6194" y="2937197"/>
            <a:ext cx="2809875" cy="471488"/>
          </a:xfrm>
          <a:prstGeom prst="rect">
            <a:avLst/>
          </a:prstGeom>
        </p:spPr>
      </p:pic>
      <p:pic>
        <p:nvPicPr>
          <p:cNvPr id="6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39853" y="1628887"/>
            <a:ext cx="4576763" cy="290513"/>
          </a:xfrm>
          <a:prstGeom prst="rect">
            <a:avLst/>
          </a:prstGeom>
        </p:spPr>
      </p:pic>
      <p:pic>
        <p:nvPicPr>
          <p:cNvPr id="6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39853" y="3665711"/>
            <a:ext cx="4576763" cy="252412"/>
          </a:xfrm>
          <a:prstGeom prst="rect">
            <a:avLst/>
          </a:prstGeom>
        </p:spPr>
      </p:pic>
      <p:pic>
        <p:nvPicPr>
          <p:cNvPr id="6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8150" y="4728158"/>
            <a:ext cx="826770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3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38150" y="195783"/>
            <a:ext cx="8267700" cy="271463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38224" y="194742"/>
            <a:ext cx="176212" cy="176212"/>
          </a:xfrm>
          <a:prstGeom prst="rect">
            <a:avLst/>
          </a:prstGeom>
          <a:solidFill>
            <a:srgbClr val="0D8E83"/>
          </a:solidFill>
          <a:ln w="4763">
            <a:solidFill>
              <a:srgbClr val="0D8E8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76" y="226293"/>
            <a:ext cx="113109" cy="1131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5148" y="215578"/>
            <a:ext cx="87584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166" dirty="0">
                <a:solidFill>
                  <a:srgbClr val="171B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CUSTODIA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1426294" y="222498"/>
            <a:ext cx="14459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kern="0" spc="150" dirty="0">
                <a:solidFill>
                  <a:srgbClr val="7781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SAFETY HUB |01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7485757" y="222498"/>
            <a:ext cx="164230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123" dirty="0">
                <a:solidFill>
                  <a:srgbClr val="6872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| SYSTEM DESIGN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438894" y="724793"/>
            <a:ext cx="408823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189" dirty="0">
                <a:solidFill>
                  <a:srgbClr val="0D8E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 ARCHITECTURE &amp; PROTOTYPE WIRING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438894" y="873696"/>
            <a:ext cx="639254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27"/>
              </a:spcBef>
              <a:buNone/>
            </a:pPr>
            <a:r>
              <a:rPr lang="en-US" sz="2810" b="1" kern="0" spc="-168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From sensor node to situational awareness.</a:t>
            </a:r>
            <a:endParaRPr lang="en-US" sz="2810" dirty="0"/>
          </a:p>
        </p:txBody>
      </p:sp>
      <p:sp>
        <p:nvSpPr>
          <p:cNvPr id="11" name="Shape 8"/>
          <p:cNvSpPr/>
          <p:nvPr/>
        </p:nvSpPr>
        <p:spPr>
          <a:xfrm>
            <a:off x="438522" y="1456432"/>
            <a:ext cx="2019300" cy="1133475"/>
          </a:xfrm>
          <a:prstGeom prst="rect">
            <a:avLst/>
          </a:prstGeom>
          <a:solidFill>
            <a:srgbClr val="24445D"/>
          </a:solidFill>
          <a:ln w="4763">
            <a:solidFill>
              <a:srgbClr val="2949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26492" y="1649760"/>
            <a:ext cx="105074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137" dirty="0">
                <a:solidFill>
                  <a:srgbClr val="9CABB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SENSOR NODE</a:t>
            </a:r>
            <a:endParaRPr lang="en-US" sz="680" dirty="0"/>
          </a:p>
        </p:txBody>
      </p:sp>
      <p:sp>
        <p:nvSpPr>
          <p:cNvPr id="13" name="Text 10"/>
          <p:cNvSpPr/>
          <p:nvPr/>
        </p:nvSpPr>
        <p:spPr>
          <a:xfrm>
            <a:off x="626492" y="1927622"/>
            <a:ext cx="211409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013"/>
              </a:spcBef>
              <a:buNone/>
            </a:pPr>
            <a:r>
              <a:rPr lang="en-US" sz="1440" b="1" dirty="0">
                <a:solidFill>
                  <a:srgbClr val="F4F5F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gas + flame + actuation</a:t>
            </a:r>
            <a:endParaRPr lang="en-US" sz="1440" dirty="0"/>
          </a:p>
        </p:txBody>
      </p:sp>
      <p:sp>
        <p:nvSpPr>
          <p:cNvPr id="14" name="Text 11"/>
          <p:cNvSpPr/>
          <p:nvPr/>
        </p:nvSpPr>
        <p:spPr>
          <a:xfrm>
            <a:off x="3155692" y="1853802"/>
            <a:ext cx="22179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60" dirty="0">
                <a:solidFill>
                  <a:srgbClr val="0D8E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66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3814F59-09E5-2099-5096-1809AE7781B5}"/>
              </a:ext>
            </a:extLst>
          </p:cNvPr>
          <p:cNvGrpSpPr/>
          <p:nvPr/>
        </p:nvGrpSpPr>
        <p:grpSpPr>
          <a:xfrm>
            <a:off x="3625400" y="1456432"/>
            <a:ext cx="1664472" cy="1133475"/>
            <a:chOff x="4603626" y="1456432"/>
            <a:chExt cx="2019300" cy="1133475"/>
          </a:xfrm>
        </p:grpSpPr>
        <p:sp>
          <p:nvSpPr>
            <p:cNvPr id="15" name="Shape 12"/>
            <p:cNvSpPr/>
            <p:nvPr/>
          </p:nvSpPr>
          <p:spPr>
            <a:xfrm>
              <a:off x="4603626" y="1456432"/>
              <a:ext cx="2019300" cy="1133475"/>
            </a:xfrm>
            <a:prstGeom prst="rect">
              <a:avLst/>
            </a:prstGeom>
            <a:solidFill>
              <a:srgbClr val="F8F9F6"/>
            </a:solidFill>
            <a:ln w="4763">
              <a:solidFill>
                <a:srgbClr val="C7CECC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 13"/>
            <p:cNvSpPr/>
            <p:nvPr/>
          </p:nvSpPr>
          <p:spPr>
            <a:xfrm>
              <a:off x="4791596" y="1649760"/>
              <a:ext cx="1773287" cy="114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680" b="1" kern="0" spc="137" dirty="0">
                  <a:solidFill>
                    <a:srgbClr val="778183"/>
                  </a:solidFill>
                  <a:latin typeface="IBM Plex Mono" pitchFamily="34" charset="0"/>
                  <a:ea typeface="IBM Plex Mono" pitchFamily="34" charset="-122"/>
                  <a:cs typeface="IBM Plex Mono" pitchFamily="34" charset="-120"/>
                </a:rPr>
                <a:t>COMMUNICATION LAYER</a:t>
              </a:r>
              <a:endParaRPr lang="en-US" sz="68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4791596" y="1879997"/>
              <a:ext cx="1326646" cy="219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spcBef>
                  <a:spcPts val="1013"/>
                </a:spcBef>
                <a:buNone/>
              </a:pPr>
              <a:r>
                <a:rPr lang="en-US" sz="1440" b="1" dirty="0">
                  <a:solidFill>
                    <a:srgbClr val="173A57"/>
                  </a:solidFill>
                  <a:latin typeface="Barlow Condensed" pitchFamily="34" charset="0"/>
                  <a:ea typeface="Barlow Condensed" pitchFamily="34" charset="-122"/>
                  <a:cs typeface="Barlow Condensed" pitchFamily="34" charset="-120"/>
                </a:rPr>
                <a:t>MQTT / REST /</a:t>
              </a:r>
              <a:endParaRPr lang="en-US" sz="144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4791596" y="2053754"/>
              <a:ext cx="901192" cy="219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spcBef>
                  <a:spcPts val="1013"/>
                </a:spcBef>
                <a:buNone/>
              </a:pPr>
              <a:r>
                <a:rPr lang="en-US" sz="1440" b="1" dirty="0">
                  <a:solidFill>
                    <a:srgbClr val="173A57"/>
                  </a:solidFill>
                  <a:latin typeface="Barlow Condensed" pitchFamily="34" charset="0"/>
                  <a:ea typeface="Barlow Condensed" pitchFamily="34" charset="-122"/>
                  <a:cs typeface="Barlow Condensed" pitchFamily="34" charset="-120"/>
                </a:rPr>
                <a:t>Bluetooth</a:t>
              </a:r>
              <a:endParaRPr lang="en-US" sz="1440" dirty="0"/>
            </a:p>
          </p:txBody>
        </p:sp>
      </p:grpSp>
      <p:sp>
        <p:nvSpPr>
          <p:cNvPr id="19" name="Text 16"/>
          <p:cNvSpPr/>
          <p:nvPr/>
        </p:nvSpPr>
        <p:spPr>
          <a:xfrm>
            <a:off x="7632502" y="1884462"/>
            <a:ext cx="22179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60" dirty="0">
                <a:solidFill>
                  <a:srgbClr val="0D8E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660" dirty="0"/>
          </a:p>
        </p:txBody>
      </p:sp>
      <p:sp>
        <p:nvSpPr>
          <p:cNvPr id="20" name="Shape 17"/>
          <p:cNvSpPr/>
          <p:nvPr/>
        </p:nvSpPr>
        <p:spPr>
          <a:xfrm>
            <a:off x="5244402" y="1456432"/>
            <a:ext cx="1752600" cy="1133475"/>
          </a:xfrm>
          <a:prstGeom prst="rect">
            <a:avLst/>
          </a:prstGeom>
          <a:solidFill>
            <a:srgbClr val="F8F9F6"/>
          </a:solidFill>
          <a:ln w="4763">
            <a:solidFill>
              <a:srgbClr val="C7CE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5289872" y="1649760"/>
            <a:ext cx="77978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137" dirty="0">
                <a:solidFill>
                  <a:srgbClr val="7781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DATABASE</a:t>
            </a:r>
            <a:endParaRPr lang="en-US" sz="680" dirty="0"/>
          </a:p>
        </p:txBody>
      </p:sp>
      <p:sp>
        <p:nvSpPr>
          <p:cNvPr id="22" name="Text 19"/>
          <p:cNvSpPr/>
          <p:nvPr/>
        </p:nvSpPr>
        <p:spPr>
          <a:xfrm>
            <a:off x="5289872" y="1879997"/>
            <a:ext cx="159577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013"/>
              </a:spcBef>
              <a:buNone/>
            </a:pPr>
            <a:r>
              <a:rPr lang="en-US" sz="1440" b="1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live state + logs +</a:t>
            </a:r>
            <a:endParaRPr lang="en-US" sz="1440" dirty="0"/>
          </a:p>
        </p:txBody>
      </p:sp>
      <p:sp>
        <p:nvSpPr>
          <p:cNvPr id="23" name="Text 20"/>
          <p:cNvSpPr/>
          <p:nvPr/>
        </p:nvSpPr>
        <p:spPr>
          <a:xfrm>
            <a:off x="5289872" y="2053754"/>
            <a:ext cx="57605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013"/>
              </a:spcBef>
              <a:buNone/>
            </a:pPr>
            <a:r>
              <a:rPr lang="en-US" sz="1440" b="1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alerts</a:t>
            </a:r>
            <a:endParaRPr lang="en-US" sz="1440" dirty="0"/>
          </a:p>
        </p:txBody>
      </p:sp>
      <p:sp>
        <p:nvSpPr>
          <p:cNvPr id="24" name="Shape 21"/>
          <p:cNvSpPr/>
          <p:nvPr/>
        </p:nvSpPr>
        <p:spPr>
          <a:xfrm>
            <a:off x="6916564" y="1456432"/>
            <a:ext cx="1752600" cy="1133475"/>
          </a:xfrm>
          <a:prstGeom prst="rect">
            <a:avLst/>
          </a:prstGeom>
          <a:solidFill>
            <a:srgbClr val="F8F9F6"/>
          </a:solidFill>
          <a:ln w="4763">
            <a:solidFill>
              <a:srgbClr val="C7CE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7104906" y="1649760"/>
            <a:ext cx="132171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137" dirty="0">
                <a:solidFill>
                  <a:srgbClr val="7781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DASHBOARD / UI</a:t>
            </a:r>
            <a:endParaRPr lang="en-US" sz="680" dirty="0"/>
          </a:p>
        </p:txBody>
      </p:sp>
      <p:sp>
        <p:nvSpPr>
          <p:cNvPr id="26" name="Text 23"/>
          <p:cNvSpPr/>
          <p:nvPr/>
        </p:nvSpPr>
        <p:spPr>
          <a:xfrm>
            <a:off x="7104906" y="1879997"/>
            <a:ext cx="152844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013"/>
              </a:spcBef>
              <a:buNone/>
            </a:pPr>
            <a:r>
              <a:rPr lang="en-US" sz="1440" b="1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gauges + video +</a:t>
            </a:r>
            <a:endParaRPr lang="en-US" sz="1440" dirty="0"/>
          </a:p>
        </p:txBody>
      </p:sp>
      <p:sp>
        <p:nvSpPr>
          <p:cNvPr id="27" name="Text 24"/>
          <p:cNvSpPr/>
          <p:nvPr/>
        </p:nvSpPr>
        <p:spPr>
          <a:xfrm>
            <a:off x="7104906" y="2053754"/>
            <a:ext cx="87362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013"/>
              </a:spcBef>
              <a:buNone/>
            </a:pPr>
            <a:r>
              <a:rPr lang="en-US" sz="1440" b="1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response</a:t>
            </a:r>
            <a:endParaRPr lang="en-US" sz="1440" dirty="0"/>
          </a:p>
        </p:txBody>
      </p:sp>
      <p:sp>
        <p:nvSpPr>
          <p:cNvPr id="28" name="Shape 25"/>
          <p:cNvSpPr/>
          <p:nvPr/>
        </p:nvSpPr>
        <p:spPr>
          <a:xfrm>
            <a:off x="439564" y="2795550"/>
            <a:ext cx="4881562" cy="1181100"/>
          </a:xfrm>
          <a:prstGeom prst="rect">
            <a:avLst/>
          </a:prstGeom>
          <a:solidFill>
            <a:srgbClr val="F8F9F6"/>
          </a:solidFill>
          <a:ln w="4763">
            <a:solidFill>
              <a:srgbClr val="C7CE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626492" y="2986980"/>
            <a:ext cx="195399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137" dirty="0">
                <a:solidFill>
                  <a:srgbClr val="7781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CIRCUIT / WIRING VIEW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626938" y="3270833"/>
            <a:ext cx="1004887" cy="566738"/>
          </a:xfrm>
          <a:prstGeom prst="rect">
            <a:avLst/>
          </a:prstGeom>
          <a:solidFill>
            <a:srgbClr val="E4F2EE"/>
          </a:solidFill>
          <a:ln w="9525">
            <a:solidFill>
              <a:srgbClr val="17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861670" y="3419921"/>
            <a:ext cx="535424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Arduino</a:t>
            </a:r>
            <a:endParaRPr lang="en-US" sz="1010" dirty="0"/>
          </a:p>
        </p:txBody>
      </p:sp>
      <p:sp>
        <p:nvSpPr>
          <p:cNvPr id="32" name="Text 29"/>
          <p:cNvSpPr/>
          <p:nvPr/>
        </p:nvSpPr>
        <p:spPr>
          <a:xfrm>
            <a:off x="977767" y="3535114"/>
            <a:ext cx="30315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UNO</a:t>
            </a:r>
            <a:endParaRPr lang="en-US" sz="1010" dirty="0"/>
          </a:p>
        </p:txBody>
      </p:sp>
      <p:sp>
        <p:nvSpPr>
          <p:cNvPr id="33" name="Text 30"/>
          <p:cNvSpPr/>
          <p:nvPr/>
        </p:nvSpPr>
        <p:spPr>
          <a:xfrm>
            <a:off x="1751112" y="3445073"/>
            <a:ext cx="18600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8E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1969071" y="3235077"/>
            <a:ext cx="121617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900" b="1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MQ-2 / MQ-135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969071" y="3478039"/>
            <a:ext cx="112707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900" b="1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Flame sensor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969071" y="3721001"/>
            <a:ext cx="139446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HC-05 Bluetooth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3116610" y="3445073"/>
            <a:ext cx="18600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8E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3335015" y="3270833"/>
            <a:ext cx="1004887" cy="566738"/>
          </a:xfrm>
          <a:prstGeom prst="rect">
            <a:avLst/>
          </a:prstGeom>
          <a:solidFill>
            <a:srgbClr val="FFF0EE"/>
          </a:solidFill>
          <a:ln w="4763">
            <a:solidFill>
              <a:srgbClr val="D99C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3640087" y="3419921"/>
            <a:ext cx="39467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BA4D4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Relay</a:t>
            </a:r>
            <a:endParaRPr lang="en-US" sz="1010" dirty="0"/>
          </a:p>
        </p:txBody>
      </p:sp>
      <p:sp>
        <p:nvSpPr>
          <p:cNvPr id="40" name="Text 37"/>
          <p:cNvSpPr/>
          <p:nvPr/>
        </p:nvSpPr>
        <p:spPr>
          <a:xfrm>
            <a:off x="3620739" y="3535114"/>
            <a:ext cx="43336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BA4D46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cutoff</a:t>
            </a:r>
            <a:endParaRPr lang="en-US" sz="1010" dirty="0"/>
          </a:p>
        </p:txBody>
      </p:sp>
      <p:sp>
        <p:nvSpPr>
          <p:cNvPr id="41" name="Shape 38"/>
          <p:cNvSpPr/>
          <p:nvPr/>
        </p:nvSpPr>
        <p:spPr>
          <a:xfrm>
            <a:off x="5448672" y="2795550"/>
            <a:ext cx="3257550" cy="1181100"/>
          </a:xfrm>
          <a:prstGeom prst="rect">
            <a:avLst/>
          </a:prstGeom>
          <a:solidFill>
            <a:srgbClr val="24445D"/>
          </a:solidFill>
          <a:ln w="4763">
            <a:solidFill>
              <a:srgbClr val="2949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5637386" y="2986980"/>
            <a:ext cx="150232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137" dirty="0">
                <a:solidFill>
                  <a:srgbClr val="9CABB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DESIGN PRINCIPLE</a:t>
            </a:r>
            <a:endParaRPr lang="en-US" sz="680" dirty="0"/>
          </a:p>
        </p:txBody>
      </p:sp>
      <p:sp>
        <p:nvSpPr>
          <p:cNvPr id="43" name="Text 40"/>
          <p:cNvSpPr/>
          <p:nvPr/>
        </p:nvSpPr>
        <p:spPr>
          <a:xfrm>
            <a:off x="5637386" y="3201739"/>
            <a:ext cx="345459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91"/>
              </a:spcBef>
              <a:buNone/>
            </a:pPr>
            <a:r>
              <a:rPr lang="en-US" sz="1300" b="1" dirty="0">
                <a:solidFill>
                  <a:srgbClr val="F4F5F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The node can fail locally without hiding the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5637386" y="3359721"/>
            <a:ext cx="52072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91"/>
              </a:spcBef>
              <a:buNone/>
            </a:pPr>
            <a:r>
              <a:rPr lang="en-US" sz="1300" b="1" dirty="0">
                <a:solidFill>
                  <a:srgbClr val="F4F5F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story.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5637386" y="3588916"/>
            <a:ext cx="358384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30" dirty="0">
                <a:solidFill>
                  <a:srgbClr val="BDC7C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Buzzer, LED, and relay respond at the edge.</a:t>
            </a:r>
            <a:endParaRPr lang="en-US" sz="830" dirty="0"/>
          </a:p>
        </p:txBody>
      </p:sp>
      <p:sp>
        <p:nvSpPr>
          <p:cNvPr id="46" name="Text 43"/>
          <p:cNvSpPr/>
          <p:nvPr/>
        </p:nvSpPr>
        <p:spPr>
          <a:xfrm>
            <a:off x="5637386" y="3707681"/>
            <a:ext cx="3665875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30" dirty="0">
                <a:solidFill>
                  <a:srgbClr val="BDC7C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backend keeps the facility team informed</a:t>
            </a:r>
            <a:endParaRPr lang="en-US" sz="830" dirty="0"/>
          </a:p>
        </p:txBody>
      </p:sp>
      <p:sp>
        <p:nvSpPr>
          <p:cNvPr id="47" name="Text 44"/>
          <p:cNvSpPr/>
          <p:nvPr/>
        </p:nvSpPr>
        <p:spPr>
          <a:xfrm>
            <a:off x="5637386" y="3826446"/>
            <a:ext cx="202558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30" dirty="0">
                <a:solidFill>
                  <a:srgbClr val="BDC7C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and the event traceable.</a:t>
            </a:r>
            <a:endParaRPr lang="en-US" sz="830" dirty="0"/>
          </a:p>
        </p:txBody>
      </p:sp>
      <p:sp>
        <p:nvSpPr>
          <p:cNvPr id="48" name="Text 45"/>
          <p:cNvSpPr/>
          <p:nvPr/>
        </p:nvSpPr>
        <p:spPr>
          <a:xfrm>
            <a:off x="438894" y="4829398"/>
            <a:ext cx="1975277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kern="0" spc="117" dirty="0">
                <a:solidFill>
                  <a:srgbClr val="6872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CUSTODIA | PROJECT CALL</a:t>
            </a:r>
            <a:endParaRPr lang="en-US" sz="650" dirty="0"/>
          </a:p>
        </p:txBody>
      </p:sp>
      <p:sp>
        <p:nvSpPr>
          <p:cNvPr id="49" name="Text 46"/>
          <p:cNvSpPr/>
          <p:nvPr/>
        </p:nvSpPr>
        <p:spPr>
          <a:xfrm>
            <a:off x="6716464" y="4829398"/>
            <a:ext cx="2642384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kern="0" spc="117" dirty="0">
                <a:solidFill>
                  <a:srgbClr val="6872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PRESENTATION |OPERATIONS BRIEF</a:t>
            </a:r>
            <a:endParaRPr lang="en-US" sz="650" dirty="0"/>
          </a:p>
        </p:txBody>
      </p:sp>
      <p:pic>
        <p:nvPicPr>
          <p:cNvPr id="5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150" y="195783"/>
            <a:ext cx="8267700" cy="271463"/>
          </a:xfrm>
          <a:prstGeom prst="rect">
            <a:avLst/>
          </a:prstGeom>
        </p:spPr>
      </p:pic>
      <p:pic>
        <p:nvPicPr>
          <p:cNvPr id="5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69071" y="3226482"/>
            <a:ext cx="1028700" cy="200025"/>
          </a:xfrm>
          <a:prstGeom prst="rect">
            <a:avLst/>
          </a:prstGeom>
        </p:spPr>
      </p:pic>
      <p:pic>
        <p:nvPicPr>
          <p:cNvPr id="5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69071" y="3469444"/>
            <a:ext cx="1028700" cy="200025"/>
          </a:xfrm>
          <a:prstGeom prst="rect">
            <a:avLst/>
          </a:prstGeom>
        </p:spPr>
      </p:pic>
      <p:pic>
        <p:nvPicPr>
          <p:cNvPr id="5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8150" y="4728158"/>
            <a:ext cx="826770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3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38150" y="195783"/>
            <a:ext cx="8267700" cy="271463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38224" y="194742"/>
            <a:ext cx="176212" cy="176212"/>
          </a:xfrm>
          <a:prstGeom prst="rect">
            <a:avLst/>
          </a:prstGeom>
          <a:solidFill>
            <a:srgbClr val="0D8E83"/>
          </a:solidFill>
          <a:ln w="4763">
            <a:solidFill>
              <a:srgbClr val="0D8E8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76" y="226293"/>
            <a:ext cx="113109" cy="1131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5148" y="215578"/>
            <a:ext cx="87584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166" dirty="0">
                <a:solidFill>
                  <a:srgbClr val="171B1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CUSTODIA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1426294" y="222498"/>
            <a:ext cx="14459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kern="0" spc="150" dirty="0">
                <a:solidFill>
                  <a:srgbClr val="7781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SAFETY HUB | 01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7959923" y="222498"/>
            <a:ext cx="102588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123" dirty="0">
                <a:solidFill>
                  <a:srgbClr val="6872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| IMPACT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438894" y="827708"/>
            <a:ext cx="228483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189" dirty="0">
                <a:solidFill>
                  <a:srgbClr val="0D8E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IMPACT &amp; FUTURE SCOPE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438894" y="984052"/>
            <a:ext cx="3945062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3780" b="1" kern="0" spc="-265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Reduced evacuation</a:t>
            </a:r>
            <a:endParaRPr lang="en-US" sz="3780" dirty="0"/>
          </a:p>
        </p:txBody>
      </p:sp>
      <p:sp>
        <p:nvSpPr>
          <p:cNvPr id="11" name="Text 8"/>
          <p:cNvSpPr/>
          <p:nvPr/>
        </p:nvSpPr>
        <p:spPr>
          <a:xfrm>
            <a:off x="438894" y="1396826"/>
            <a:ext cx="3114467" cy="5762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3780" b="1" kern="0" spc="-265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response times.</a:t>
            </a:r>
            <a:endParaRPr lang="en-US" sz="3780" dirty="0"/>
          </a:p>
        </p:txBody>
      </p:sp>
      <p:sp>
        <p:nvSpPr>
          <p:cNvPr id="12" name="Text 9"/>
          <p:cNvSpPr/>
          <p:nvPr/>
        </p:nvSpPr>
        <p:spPr>
          <a:xfrm>
            <a:off x="438894" y="2014761"/>
            <a:ext cx="442014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053"/>
              </a:spcBef>
              <a:buNone/>
            </a:pPr>
            <a:r>
              <a:rPr lang="en-US" sz="1220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Custodia moves safety from a passive</a:t>
            </a:r>
            <a:endParaRPr lang="en-US" sz="1220" dirty="0"/>
          </a:p>
        </p:txBody>
      </p:sp>
      <p:sp>
        <p:nvSpPr>
          <p:cNvPr id="13" name="Text 10"/>
          <p:cNvSpPr/>
          <p:nvPr/>
        </p:nvSpPr>
        <p:spPr>
          <a:xfrm>
            <a:off x="438894" y="2195066"/>
            <a:ext cx="429893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053"/>
              </a:spcBef>
              <a:buNone/>
            </a:pPr>
            <a:r>
              <a:rPr lang="en-US" sz="1220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alert to an informed decision loop.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439824" y="2646983"/>
            <a:ext cx="1552575" cy="1681162"/>
          </a:xfrm>
          <a:prstGeom prst="rect">
            <a:avLst/>
          </a:prstGeom>
          <a:solidFill>
            <a:srgbClr val="F8F9F6"/>
          </a:solidFill>
          <a:ln w="4763">
            <a:solidFill>
              <a:srgbClr val="C7CE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26492" y="2839194"/>
            <a:ext cx="32821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137" dirty="0">
                <a:solidFill>
                  <a:srgbClr val="7781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NOW</a:t>
            </a:r>
            <a:endParaRPr lang="en-US" sz="680" dirty="0"/>
          </a:p>
        </p:txBody>
      </p:sp>
      <p:sp>
        <p:nvSpPr>
          <p:cNvPr id="16" name="Text 13"/>
          <p:cNvSpPr/>
          <p:nvPr/>
        </p:nvSpPr>
        <p:spPr>
          <a:xfrm>
            <a:off x="626492" y="3018755"/>
            <a:ext cx="121027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89"/>
              </a:spcBef>
              <a:buNone/>
            </a:pPr>
            <a:r>
              <a:rPr lang="en-US" sz="1760" b="1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Live multi-zone</a:t>
            </a:r>
            <a:endParaRPr lang="en-US" sz="1760" dirty="0"/>
          </a:p>
        </p:txBody>
      </p:sp>
      <p:sp>
        <p:nvSpPr>
          <p:cNvPr id="17" name="Text 14"/>
          <p:cNvSpPr/>
          <p:nvPr/>
        </p:nvSpPr>
        <p:spPr>
          <a:xfrm>
            <a:off x="1058763" y="3224882"/>
            <a:ext cx="98525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89"/>
              </a:spcBef>
              <a:buNone/>
            </a:pPr>
            <a:r>
              <a:rPr lang="en-US" sz="1760" b="1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visibility</a:t>
            </a:r>
            <a:endParaRPr lang="en-US" sz="1760" dirty="0"/>
          </a:p>
        </p:txBody>
      </p:sp>
      <p:sp>
        <p:nvSpPr>
          <p:cNvPr id="18" name="Text 15"/>
          <p:cNvSpPr/>
          <p:nvPr/>
        </p:nvSpPr>
        <p:spPr>
          <a:xfrm>
            <a:off x="626492" y="3511748"/>
            <a:ext cx="134048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Detect, locate,</a:t>
            </a:r>
            <a:endParaRPr lang="en-US" sz="860" dirty="0"/>
          </a:p>
        </p:txBody>
      </p:sp>
      <p:sp>
        <p:nvSpPr>
          <p:cNvPr id="19" name="Text 16"/>
          <p:cNvSpPr/>
          <p:nvPr/>
        </p:nvSpPr>
        <p:spPr>
          <a:xfrm>
            <a:off x="626492" y="3634680"/>
            <a:ext cx="134048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and notify from</a:t>
            </a:r>
            <a:endParaRPr lang="en-US" sz="860" dirty="0"/>
          </a:p>
        </p:txBody>
      </p:sp>
      <p:sp>
        <p:nvSpPr>
          <p:cNvPr id="20" name="Text 17"/>
          <p:cNvSpPr/>
          <p:nvPr/>
        </p:nvSpPr>
        <p:spPr>
          <a:xfrm>
            <a:off x="626492" y="3757613"/>
            <a:ext cx="91270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one shared</a:t>
            </a:r>
            <a:endParaRPr lang="en-US" sz="860" dirty="0"/>
          </a:p>
        </p:txBody>
      </p:sp>
      <p:sp>
        <p:nvSpPr>
          <p:cNvPr id="21" name="Text 18"/>
          <p:cNvSpPr/>
          <p:nvPr/>
        </p:nvSpPr>
        <p:spPr>
          <a:xfrm>
            <a:off x="626492" y="3880545"/>
            <a:ext cx="74167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picture.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2085640" y="2646983"/>
            <a:ext cx="1552575" cy="1681162"/>
          </a:xfrm>
          <a:prstGeom prst="rect">
            <a:avLst/>
          </a:prstGeom>
          <a:solidFill>
            <a:srgbClr val="FFF5DC"/>
          </a:solidFill>
          <a:ln w="4763">
            <a:solidFill>
              <a:srgbClr val="D9C2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2272308" y="2839194"/>
            <a:ext cx="5991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137" dirty="0">
                <a:solidFill>
                  <a:srgbClr val="7781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FUTURE</a:t>
            </a:r>
            <a:endParaRPr lang="en-US" sz="680" dirty="0"/>
          </a:p>
        </p:txBody>
      </p:sp>
      <p:sp>
        <p:nvSpPr>
          <p:cNvPr id="24" name="Text 21"/>
          <p:cNvSpPr/>
          <p:nvPr/>
        </p:nvSpPr>
        <p:spPr>
          <a:xfrm>
            <a:off x="2272308" y="3018755"/>
            <a:ext cx="128920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89"/>
              </a:spcBef>
              <a:buNone/>
            </a:pPr>
            <a:r>
              <a:rPr lang="en-US" sz="1760" b="1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AI-assisted</a:t>
            </a:r>
            <a:endParaRPr lang="en-US" sz="1760" dirty="0"/>
          </a:p>
        </p:txBody>
      </p:sp>
      <p:sp>
        <p:nvSpPr>
          <p:cNvPr id="25" name="Text 22"/>
          <p:cNvSpPr/>
          <p:nvPr/>
        </p:nvSpPr>
        <p:spPr>
          <a:xfrm>
            <a:off x="2272308" y="3224882"/>
            <a:ext cx="105742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89"/>
              </a:spcBef>
              <a:buNone/>
            </a:pPr>
            <a:r>
              <a:rPr lang="en-US" sz="1760" b="1" dirty="0">
                <a:solidFill>
                  <a:srgbClr val="173A5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response</a:t>
            </a:r>
            <a:endParaRPr lang="en-US" sz="1760" dirty="0"/>
          </a:p>
        </p:txBody>
      </p:sp>
      <p:sp>
        <p:nvSpPr>
          <p:cNvPr id="26" name="Text 23"/>
          <p:cNvSpPr/>
          <p:nvPr/>
        </p:nvSpPr>
        <p:spPr>
          <a:xfrm>
            <a:off x="2272308" y="3511748"/>
            <a:ext cx="142609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AI-based smoke /</a:t>
            </a:r>
            <a:endParaRPr lang="en-US" sz="860" dirty="0"/>
          </a:p>
        </p:txBody>
      </p:sp>
      <p:sp>
        <p:nvSpPr>
          <p:cNvPr id="27" name="Text 24"/>
          <p:cNvSpPr/>
          <p:nvPr/>
        </p:nvSpPr>
        <p:spPr>
          <a:xfrm>
            <a:off x="2272308" y="3634680"/>
            <a:ext cx="134048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human detection</a:t>
            </a:r>
            <a:endParaRPr lang="en-US" sz="860" dirty="0"/>
          </a:p>
        </p:txBody>
      </p:sp>
      <p:sp>
        <p:nvSpPr>
          <p:cNvPr id="28" name="Text 25"/>
          <p:cNvSpPr/>
          <p:nvPr/>
        </p:nvSpPr>
        <p:spPr>
          <a:xfrm>
            <a:off x="2272308" y="3757613"/>
            <a:ext cx="12549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with automated</a:t>
            </a:r>
            <a:endParaRPr lang="en-US" sz="860" dirty="0"/>
          </a:p>
        </p:txBody>
      </p:sp>
      <p:sp>
        <p:nvSpPr>
          <p:cNvPr id="29" name="Text 26"/>
          <p:cNvSpPr/>
          <p:nvPr/>
        </p:nvSpPr>
        <p:spPr>
          <a:xfrm>
            <a:off x="2272308" y="3880545"/>
            <a:ext cx="82718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exit-path</a:t>
            </a:r>
            <a:endParaRPr lang="en-US" sz="860" dirty="0"/>
          </a:p>
        </p:txBody>
      </p:sp>
      <p:sp>
        <p:nvSpPr>
          <p:cNvPr id="30" name="Text 27"/>
          <p:cNvSpPr/>
          <p:nvPr/>
        </p:nvSpPr>
        <p:spPr>
          <a:xfrm>
            <a:off x="2272308" y="4003477"/>
            <a:ext cx="82718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5260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guidance.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4909133" y="1080566"/>
            <a:ext cx="3795712" cy="3065785"/>
          </a:xfrm>
          <a:prstGeom prst="rect">
            <a:avLst/>
          </a:prstGeom>
          <a:solidFill>
            <a:srgbClr val="24445D"/>
          </a:solidFill>
          <a:ln w="4763">
            <a:solidFill>
              <a:srgbClr val="2949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5096173" y="1304255"/>
            <a:ext cx="57150" cy="57150"/>
          </a:xfrm>
          <a:prstGeom prst="ellipse">
            <a:avLst/>
          </a:prstGeom>
          <a:solidFill>
            <a:srgbClr val="0D8E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5235253" y="1272480"/>
            <a:ext cx="177328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80" b="1" kern="0" spc="137" dirty="0">
                <a:solidFill>
                  <a:srgbClr val="9CABB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OPERATIONAL PROMISE</a:t>
            </a:r>
            <a:endParaRPr lang="en-US" sz="680" dirty="0"/>
          </a:p>
        </p:txBody>
      </p:sp>
      <p:sp>
        <p:nvSpPr>
          <p:cNvPr id="34" name="Text 31"/>
          <p:cNvSpPr/>
          <p:nvPr/>
        </p:nvSpPr>
        <p:spPr>
          <a:xfrm>
            <a:off x="5096470" y="1747465"/>
            <a:ext cx="4467352" cy="452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0"/>
              </a:spcBef>
              <a:buNone/>
            </a:pPr>
            <a:r>
              <a:rPr lang="en-US" sz="2950" b="1" kern="0" spc="-148" dirty="0">
                <a:solidFill>
                  <a:srgbClr val="F4F5F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From sensing risk to guiding</a:t>
            </a:r>
            <a:endParaRPr lang="en-US" sz="2950" dirty="0"/>
          </a:p>
        </p:txBody>
      </p:sp>
      <p:sp>
        <p:nvSpPr>
          <p:cNvPr id="35" name="Text 32"/>
          <p:cNvSpPr/>
          <p:nvPr/>
        </p:nvSpPr>
        <p:spPr>
          <a:xfrm>
            <a:off x="5096470" y="2084859"/>
            <a:ext cx="2467191" cy="452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0"/>
              </a:spcBef>
              <a:buNone/>
            </a:pPr>
            <a:r>
              <a:rPr lang="en-US" sz="2950" b="1" kern="0" spc="-148" dirty="0">
                <a:solidFill>
                  <a:srgbClr val="F4F5F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people out of it.</a:t>
            </a:r>
            <a:endParaRPr lang="en-US" sz="2950" dirty="0"/>
          </a:p>
        </p:txBody>
      </p:sp>
      <p:sp>
        <p:nvSpPr>
          <p:cNvPr id="36" name="Text 33"/>
          <p:cNvSpPr/>
          <p:nvPr/>
        </p:nvSpPr>
        <p:spPr>
          <a:xfrm>
            <a:off x="5096470" y="3059385"/>
            <a:ext cx="311582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645"/>
              </a:spcBef>
              <a:buNone/>
            </a:pPr>
            <a:r>
              <a:rPr lang="en-US" sz="790" kern="0" spc="143" dirty="0">
                <a:solidFill>
                  <a:srgbClr val="A7B4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CUSTODIA / SAFETY INTELLIGENCE</a:t>
            </a:r>
            <a:endParaRPr lang="en-US" sz="790" dirty="0"/>
          </a:p>
        </p:txBody>
      </p:sp>
      <p:sp>
        <p:nvSpPr>
          <p:cNvPr id="37" name="Text 34"/>
          <p:cNvSpPr/>
          <p:nvPr/>
        </p:nvSpPr>
        <p:spPr>
          <a:xfrm>
            <a:off x="5096470" y="3341712"/>
            <a:ext cx="4399054" cy="665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16"/>
              </a:lnSpc>
              <a:buNone/>
            </a:pPr>
            <a:r>
              <a:rPr lang="en-US" sz="1940" b="1" dirty="0">
                <a:solidFill>
                  <a:srgbClr val="7CCDC2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Faster decisions. Guided exits. Safer</a:t>
            </a:r>
            <a:endParaRPr lang="en-US" sz="1940" dirty="0"/>
          </a:p>
          <a:p>
            <a:pPr marL="0" indent="0" algn="l">
              <a:lnSpc>
                <a:spcPts val="2916"/>
              </a:lnSpc>
              <a:buNone/>
            </a:pPr>
            <a:r>
              <a:rPr lang="en-US" sz="1940" b="1" dirty="0">
                <a:solidFill>
                  <a:srgbClr val="7CCDC2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response.</a:t>
            </a:r>
            <a:endParaRPr lang="en-US" sz="1940" dirty="0"/>
          </a:p>
        </p:txBody>
      </p:sp>
      <p:sp>
        <p:nvSpPr>
          <p:cNvPr id="38" name="Text 35"/>
          <p:cNvSpPr/>
          <p:nvPr/>
        </p:nvSpPr>
        <p:spPr>
          <a:xfrm>
            <a:off x="438894" y="4829398"/>
            <a:ext cx="1975277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kern="0" spc="117" dirty="0">
                <a:solidFill>
                  <a:srgbClr val="6872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CUSTODIA | PROJECT CALL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6716464" y="4829398"/>
            <a:ext cx="2642384" cy="109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kern="0" spc="117" dirty="0">
                <a:solidFill>
                  <a:srgbClr val="6872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PRESENTATION | OPERATIONS BRIEF</a:t>
            </a:r>
            <a:endParaRPr lang="en-US" sz="650" dirty="0"/>
          </a:p>
        </p:txBody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150" y="195783"/>
            <a:ext cx="8267700" cy="271463"/>
          </a:xfrm>
          <a:prstGeom prst="rect">
            <a:avLst/>
          </a:prstGeom>
        </p:spPr>
      </p:pic>
      <p:pic>
        <p:nvPicPr>
          <p:cNvPr id="4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97252" y="2947690"/>
            <a:ext cx="3419475" cy="257175"/>
          </a:xfrm>
          <a:prstGeom prst="rect">
            <a:avLst/>
          </a:prstGeom>
        </p:spPr>
      </p:pic>
      <p:pic>
        <p:nvPicPr>
          <p:cNvPr id="4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8150" y="4728158"/>
            <a:ext cx="8267700" cy="2190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873</Words>
  <Application>Microsoft Office PowerPoint</Application>
  <PresentationFormat>On-screen Show (16:9)</PresentationFormat>
  <Paragraphs>285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Barlow Condensed</vt:lpstr>
      <vt:lpstr>IBM Plex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senior4.lab</cp:lastModifiedBy>
  <cp:revision>2</cp:revision>
  <dcterms:created xsi:type="dcterms:W3CDTF">2026-08-17T03:51:04Z</dcterms:created>
  <dcterms:modified xsi:type="dcterms:W3CDTF">2026-09-17T06:27:07Z</dcterms:modified>
</cp:coreProperties>
</file>